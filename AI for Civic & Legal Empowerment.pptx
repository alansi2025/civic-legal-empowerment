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2" charset="1" panose="020B0503030501040103"/>
      <p:regular r:id="rId16"/>
    </p:embeddedFont>
    <p:embeddedFont>
      <p:font typeface="Canva Sans 2 Bold" charset="1" panose="020B0803030501040103"/>
      <p:regular r:id="rId17"/>
    </p:embeddedFont>
    <p:embeddedFont>
      <p:font typeface="Canva Sans 1 Bold" charset="1" panose="020B0803030501040103"/>
      <p:regular r:id="rId18"/>
    </p:embeddedFont>
    <p:embeddedFont>
      <p:font typeface="Canva Sans 1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925" y="3355308"/>
            <a:ext cx="10054860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4137A"/>
                </a:solidFill>
                <a:latin typeface="Canva Sans 2"/>
                <a:ea typeface="Canva Sans 2"/>
                <a:cs typeface="Canva Sans 2"/>
                <a:sym typeface="Canva Sans 2"/>
              </a:rPr>
              <a:t>Bridging the Bureaucracy Gap with Autonomous, Grounded AI Agents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65925" y="4909471"/>
            <a:ext cx="9593049" cy="5107805"/>
            <a:chOff x="0" y="0"/>
            <a:chExt cx="12790733" cy="681040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790733" cy="6810406"/>
              <a:chOff x="0" y="0"/>
              <a:chExt cx="2526564" cy="134526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526564" cy="1345265"/>
              </a:xfrm>
              <a:custGeom>
                <a:avLst/>
                <a:gdLst/>
                <a:ahLst/>
                <a:cxnLst/>
                <a:rect r="r" b="b" t="t" l="l"/>
                <a:pathLst>
                  <a:path h="1345265" w="2526564">
                    <a:moveTo>
                      <a:pt x="80703" y="0"/>
                    </a:moveTo>
                    <a:lnTo>
                      <a:pt x="2445861" y="0"/>
                    </a:lnTo>
                    <a:cubicBezTo>
                      <a:pt x="2467265" y="0"/>
                      <a:pt x="2487792" y="8503"/>
                      <a:pt x="2502927" y="23637"/>
                    </a:cubicBezTo>
                    <a:cubicBezTo>
                      <a:pt x="2518062" y="38772"/>
                      <a:pt x="2526564" y="59300"/>
                      <a:pt x="2526564" y="80703"/>
                    </a:cubicBezTo>
                    <a:lnTo>
                      <a:pt x="2526564" y="1264562"/>
                    </a:lnTo>
                    <a:cubicBezTo>
                      <a:pt x="2526564" y="1309133"/>
                      <a:pt x="2490432" y="1345265"/>
                      <a:pt x="2445861" y="1345265"/>
                    </a:cubicBezTo>
                    <a:lnTo>
                      <a:pt x="80703" y="1345265"/>
                    </a:lnTo>
                    <a:cubicBezTo>
                      <a:pt x="59300" y="1345265"/>
                      <a:pt x="38772" y="1336763"/>
                      <a:pt x="23637" y="1321628"/>
                    </a:cubicBezTo>
                    <a:cubicBezTo>
                      <a:pt x="8503" y="1306493"/>
                      <a:pt x="0" y="1285966"/>
                      <a:pt x="0" y="1264562"/>
                    </a:cubicBezTo>
                    <a:lnTo>
                      <a:pt x="0" y="80703"/>
                    </a:lnTo>
                    <a:cubicBezTo>
                      <a:pt x="0" y="59300"/>
                      <a:pt x="8503" y="38772"/>
                      <a:pt x="23637" y="23637"/>
                    </a:cubicBezTo>
                    <a:cubicBezTo>
                      <a:pt x="38772" y="8503"/>
                      <a:pt x="59300" y="0"/>
                      <a:pt x="80703" y="0"/>
                    </a:cubicBezTo>
                    <a:close/>
                  </a:path>
                </a:pathLst>
              </a:custGeom>
              <a:solidFill>
                <a:srgbClr val="96A1D9"/>
              </a:solidFill>
              <a:ln w="47625" cap="rnd">
                <a:solidFill>
                  <a:srgbClr val="04137A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526564" cy="13833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818787" y="847556"/>
              <a:ext cx="11153159" cy="4983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4"/>
                </a:lnSpc>
              </a:pPr>
              <a:r>
                <a:rPr lang="en-US" b="true" sz="5177">
                  <a:solidFill>
                    <a:srgbClr val="070241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Hackathon Track</a:t>
              </a:r>
            </a:p>
            <a:p>
              <a:pPr algn="ctr">
                <a:lnSpc>
                  <a:spcPts val="4814"/>
                </a:lnSpc>
              </a:pPr>
            </a:p>
            <a:p>
              <a:pPr algn="ctr">
                <a:lnSpc>
                  <a:spcPts val="3755"/>
                </a:lnSpc>
              </a:pPr>
              <a:r>
                <a:rPr lang="en-US" b="true" sz="4038">
                  <a:solidFill>
                    <a:srgbClr val="04137A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Problem Statement 3</a:t>
              </a:r>
            </a:p>
            <a:p>
              <a:pPr algn="ctr">
                <a:lnSpc>
                  <a:spcPts val="5653"/>
                </a:lnSpc>
                <a:spcBef>
                  <a:spcPct val="0"/>
                </a:spcBef>
              </a:pPr>
            </a:p>
            <a:p>
              <a:pPr algn="l">
                <a:lnSpc>
                  <a:spcPts val="3623"/>
                </a:lnSpc>
                <a:spcBef>
                  <a:spcPct val="0"/>
                </a:spcBef>
              </a:pPr>
              <a:r>
                <a:rPr lang="en-US" sz="2588">
                  <a:solidFill>
                    <a:srgbClr val="010115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A multi-agent AI platform that translates citizen grievances into structured, actionable legal and civic steps — grounded in verified government sources.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5925" y="324172"/>
            <a:ext cx="10712639" cy="2857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0"/>
              </a:lnSpc>
              <a:spcBef>
                <a:spcPct val="0"/>
              </a:spcBef>
            </a:pPr>
            <a:r>
              <a:rPr lang="en-US" sz="8193" b="true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AI for Civic &amp; </a:t>
            </a:r>
          </a:p>
          <a:p>
            <a:pPr algn="l">
              <a:lnSpc>
                <a:spcPts val="11470"/>
              </a:lnSpc>
              <a:spcBef>
                <a:spcPct val="0"/>
              </a:spcBef>
            </a:pPr>
            <a:r>
              <a:rPr lang="en-US" sz="8193" b="true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Legal Empowerment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08162" y="975194"/>
            <a:ext cx="6548676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 u="sng">
                <a:solidFill>
                  <a:srgbClr val="04137A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What We're Solving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095702" y="2295534"/>
            <a:ext cx="6724489" cy="1591164"/>
            <a:chOff x="0" y="0"/>
            <a:chExt cx="1717505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17505" cy="406400"/>
            </a:xfrm>
            <a:custGeom>
              <a:avLst/>
              <a:gdLst/>
              <a:ahLst/>
              <a:cxnLst/>
              <a:rect r="r" b="b" t="t" l="l"/>
              <a:pathLst>
                <a:path h="406400" w="1717505">
                  <a:moveTo>
                    <a:pt x="0" y="0"/>
                  </a:moveTo>
                  <a:lnTo>
                    <a:pt x="1514305" y="0"/>
                  </a:lnTo>
                  <a:lnTo>
                    <a:pt x="1717505" y="203200"/>
                  </a:lnTo>
                  <a:lnTo>
                    <a:pt x="151430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A1D9"/>
            </a:solidFill>
            <a:ln w="19050" cap="sq">
              <a:solidFill>
                <a:srgbClr val="04137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1463505" cy="444500"/>
            </a:xfrm>
            <a:prstGeom prst="rect">
              <a:avLst/>
            </a:prstGeom>
          </p:spPr>
          <p:txBody>
            <a:bodyPr anchor="ctr" rtlCol="false" tIns="60563" lIns="60563" bIns="60563" rIns="605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095702" y="4253084"/>
            <a:ext cx="6724489" cy="1591164"/>
            <a:chOff x="0" y="0"/>
            <a:chExt cx="1717505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17505" cy="406400"/>
            </a:xfrm>
            <a:custGeom>
              <a:avLst/>
              <a:gdLst/>
              <a:ahLst/>
              <a:cxnLst/>
              <a:rect r="r" b="b" t="t" l="l"/>
              <a:pathLst>
                <a:path h="406400" w="1717505">
                  <a:moveTo>
                    <a:pt x="0" y="0"/>
                  </a:moveTo>
                  <a:lnTo>
                    <a:pt x="1514305" y="0"/>
                  </a:lnTo>
                  <a:lnTo>
                    <a:pt x="1717505" y="203200"/>
                  </a:lnTo>
                  <a:lnTo>
                    <a:pt x="151430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A1D9"/>
            </a:solidFill>
            <a:ln w="19050" cap="sq">
              <a:solidFill>
                <a:srgbClr val="04137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1463505" cy="444500"/>
            </a:xfrm>
            <a:prstGeom prst="rect">
              <a:avLst/>
            </a:prstGeom>
          </p:spPr>
          <p:txBody>
            <a:bodyPr anchor="ctr" rtlCol="false" tIns="60563" lIns="60563" bIns="60563" rIns="605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27806" y="6207628"/>
            <a:ext cx="6724489" cy="1591164"/>
            <a:chOff x="0" y="0"/>
            <a:chExt cx="1717505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17505" cy="406400"/>
            </a:xfrm>
            <a:custGeom>
              <a:avLst/>
              <a:gdLst/>
              <a:ahLst/>
              <a:cxnLst/>
              <a:rect r="r" b="b" t="t" l="l"/>
              <a:pathLst>
                <a:path h="406400" w="1717505">
                  <a:moveTo>
                    <a:pt x="0" y="0"/>
                  </a:moveTo>
                  <a:lnTo>
                    <a:pt x="1514305" y="0"/>
                  </a:lnTo>
                  <a:lnTo>
                    <a:pt x="1717505" y="203200"/>
                  </a:lnTo>
                  <a:lnTo>
                    <a:pt x="151430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A1D9"/>
            </a:solidFill>
            <a:ln w="19050" cap="sq">
              <a:solidFill>
                <a:srgbClr val="04137A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38100"/>
              <a:ext cx="1463505" cy="444500"/>
            </a:xfrm>
            <a:prstGeom prst="rect">
              <a:avLst/>
            </a:prstGeom>
          </p:spPr>
          <p:txBody>
            <a:bodyPr anchor="ctr" rtlCol="false" tIns="60563" lIns="60563" bIns="60563" rIns="605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27806" y="8224082"/>
            <a:ext cx="6724489" cy="1591164"/>
            <a:chOff x="0" y="0"/>
            <a:chExt cx="1717505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17505" cy="406400"/>
            </a:xfrm>
            <a:custGeom>
              <a:avLst/>
              <a:gdLst/>
              <a:ahLst/>
              <a:cxnLst/>
              <a:rect r="r" b="b" t="t" l="l"/>
              <a:pathLst>
                <a:path h="406400" w="1717505">
                  <a:moveTo>
                    <a:pt x="0" y="0"/>
                  </a:moveTo>
                  <a:lnTo>
                    <a:pt x="1514305" y="0"/>
                  </a:lnTo>
                  <a:lnTo>
                    <a:pt x="1717505" y="203200"/>
                  </a:lnTo>
                  <a:lnTo>
                    <a:pt x="151430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A1D9"/>
            </a:solidFill>
            <a:ln w="19050" cap="sq">
              <a:solidFill>
                <a:srgbClr val="04137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38100"/>
              <a:ext cx="1463505" cy="444500"/>
            </a:xfrm>
            <a:prstGeom prst="rect">
              <a:avLst/>
            </a:prstGeom>
          </p:spPr>
          <p:txBody>
            <a:bodyPr anchor="ctr" rtlCol="false" tIns="60563" lIns="60563" bIns="60563" rIns="605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016768" y="2648866"/>
            <a:ext cx="5348912" cy="81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398" spc="314">
                <a:solidFill>
                  <a:srgbClr val="070241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Rights exist </a:t>
            </a:r>
            <a:r>
              <a:rPr lang="en-US" sz="2398" spc="314">
                <a:solidFill>
                  <a:srgbClr val="070241"/>
                </a:solidFill>
                <a:latin typeface="Canva Sans 1"/>
                <a:ea typeface="Canva Sans 1"/>
                <a:cs typeface="Canva Sans 1"/>
                <a:sym typeface="Canva Sans 1"/>
              </a:rPr>
              <a:t>— but remain systematically underutilized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16768" y="4586008"/>
            <a:ext cx="5348912" cy="12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398" spc="213">
                <a:solidFill>
                  <a:srgbClr val="070241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Procedures are opaque </a:t>
            </a:r>
            <a:r>
              <a:rPr lang="en-US" sz="2398" spc="213">
                <a:solidFill>
                  <a:srgbClr val="070241"/>
                </a:solidFill>
                <a:latin typeface="Canva Sans 1"/>
                <a:ea typeface="Canva Sans 1"/>
                <a:cs typeface="Canva Sans 1"/>
                <a:sym typeface="Canva Sans 1"/>
              </a:rPr>
              <a:t>— buried in PDFs and legal jargon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16768" y="6639747"/>
            <a:ext cx="6090480" cy="81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398" spc="175">
                <a:solidFill>
                  <a:srgbClr val="070241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Citizens are priced out</a:t>
            </a:r>
            <a:r>
              <a:rPr lang="en-US" sz="2398" spc="175">
                <a:solidFill>
                  <a:srgbClr val="070241"/>
                </a:solidFill>
                <a:latin typeface="Canva Sans 1"/>
                <a:ea typeface="Canva Sans 1"/>
                <a:cs typeface="Canva Sans 1"/>
                <a:sym typeface="Canva Sans 1"/>
              </a:rPr>
              <a:t> — of legal guidance for basic grievances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16768" y="8576889"/>
            <a:ext cx="5375891" cy="81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398" spc="124">
                <a:solidFill>
                  <a:srgbClr val="070241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AI can close the gap</a:t>
            </a:r>
            <a:r>
              <a:rPr lang="en-US" sz="2398" spc="124">
                <a:solidFill>
                  <a:srgbClr val="070241"/>
                </a:solidFill>
                <a:latin typeface="Canva Sans 1"/>
                <a:ea typeface="Canva Sans 1"/>
                <a:cs typeface="Canva Sans 1"/>
                <a:sym typeface="Canva Sans 1"/>
              </a:rPr>
              <a:t> — with grounded, conversational agents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0023" y="3729312"/>
            <a:ext cx="5619352" cy="5310837"/>
            <a:chOff x="0" y="0"/>
            <a:chExt cx="1304903" cy="1233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4903" cy="1233261"/>
            </a:xfrm>
            <a:custGeom>
              <a:avLst/>
              <a:gdLst/>
              <a:ahLst/>
              <a:cxnLst/>
              <a:rect r="r" b="b" t="t" l="l"/>
              <a:pathLst>
                <a:path h="1233261" w="1304903">
                  <a:moveTo>
                    <a:pt x="89552" y="0"/>
                  </a:moveTo>
                  <a:lnTo>
                    <a:pt x="1215351" y="0"/>
                  </a:lnTo>
                  <a:cubicBezTo>
                    <a:pt x="1264809" y="0"/>
                    <a:pt x="1304903" y="40094"/>
                    <a:pt x="1304903" y="89552"/>
                  </a:cubicBezTo>
                  <a:lnTo>
                    <a:pt x="1304903" y="1143708"/>
                  </a:lnTo>
                  <a:cubicBezTo>
                    <a:pt x="1304903" y="1193167"/>
                    <a:pt x="1264809" y="1233261"/>
                    <a:pt x="1215351" y="1233261"/>
                  </a:cubicBezTo>
                  <a:lnTo>
                    <a:pt x="89552" y="1233261"/>
                  </a:lnTo>
                  <a:cubicBezTo>
                    <a:pt x="40094" y="1233261"/>
                    <a:pt x="0" y="1193167"/>
                    <a:pt x="0" y="1143708"/>
                  </a:cubicBezTo>
                  <a:lnTo>
                    <a:pt x="0" y="89552"/>
                  </a:lnTo>
                  <a:cubicBezTo>
                    <a:pt x="0" y="40094"/>
                    <a:pt x="40094" y="0"/>
                    <a:pt x="89552" y="0"/>
                  </a:cubicBezTo>
                  <a:close/>
                </a:path>
              </a:pathLst>
            </a:custGeom>
            <a:solidFill>
              <a:srgbClr val="B9C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04903" cy="1261836"/>
            </a:xfrm>
            <a:prstGeom prst="rect">
              <a:avLst/>
            </a:prstGeom>
          </p:spPr>
          <p:txBody>
            <a:bodyPr anchor="ctr" rtlCol="false" tIns="57616" lIns="57616" bIns="57616" rIns="57616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0023" y="3729312"/>
            <a:ext cx="4019158" cy="5310837"/>
            <a:chOff x="0" y="0"/>
            <a:chExt cx="933312" cy="1233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3312" cy="1233261"/>
            </a:xfrm>
            <a:custGeom>
              <a:avLst/>
              <a:gdLst/>
              <a:ahLst/>
              <a:cxnLst/>
              <a:rect r="r" b="b" t="t" l="l"/>
              <a:pathLst>
                <a:path h="1233261" w="933312">
                  <a:moveTo>
                    <a:pt x="0" y="0"/>
                  </a:moveTo>
                  <a:lnTo>
                    <a:pt x="933312" y="0"/>
                  </a:lnTo>
                  <a:lnTo>
                    <a:pt x="933312" y="1233261"/>
                  </a:lnTo>
                  <a:lnTo>
                    <a:pt x="0" y="1233261"/>
                  </a:lnTo>
                  <a:close/>
                </a:path>
              </a:pathLst>
            </a:custGeom>
            <a:solidFill>
              <a:srgbClr val="B9C1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33312" cy="1261836"/>
            </a:xfrm>
            <a:prstGeom prst="rect">
              <a:avLst/>
            </a:prstGeom>
          </p:spPr>
          <p:txBody>
            <a:bodyPr anchor="ctr" rtlCol="false" tIns="57616" lIns="57616" bIns="57616" rIns="57616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351016" y="4019074"/>
            <a:ext cx="1124426" cy="1124426"/>
          </a:xfrm>
          <a:custGeom>
            <a:avLst/>
            <a:gdLst/>
            <a:ahLst/>
            <a:cxnLst/>
            <a:rect r="r" b="b" t="t" l="l"/>
            <a:pathLst>
              <a:path h="1124426" w="1124426">
                <a:moveTo>
                  <a:pt x="0" y="0"/>
                </a:moveTo>
                <a:lnTo>
                  <a:pt x="1124426" y="0"/>
                </a:lnTo>
                <a:lnTo>
                  <a:pt x="1124426" y="1124426"/>
                </a:lnTo>
                <a:lnTo>
                  <a:pt x="0" y="1124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00020" y="3729312"/>
            <a:ext cx="197115" cy="5310837"/>
            <a:chOff x="0" y="0"/>
            <a:chExt cx="45720" cy="12332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" cy="1233297"/>
            </a:xfrm>
            <a:custGeom>
              <a:avLst/>
              <a:gdLst/>
              <a:ahLst/>
              <a:cxnLst/>
              <a:rect r="r" b="b" t="t" l="l"/>
              <a:pathLst>
                <a:path h="1233297" w="45720">
                  <a:moveTo>
                    <a:pt x="45720" y="0"/>
                  </a:moveTo>
                  <a:lnTo>
                    <a:pt x="45720" y="1233297"/>
                  </a:lnTo>
                  <a:lnTo>
                    <a:pt x="0" y="1233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5720" cy="1261872"/>
            </a:xfrm>
            <a:prstGeom prst="rect">
              <a:avLst/>
            </a:prstGeom>
          </p:spPr>
          <p:txBody>
            <a:bodyPr anchor="ctr" rtlCol="false" tIns="57616" lIns="57616" bIns="57616" rIns="57616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89167" y="3729312"/>
            <a:ext cx="5619352" cy="5310837"/>
            <a:chOff x="0" y="0"/>
            <a:chExt cx="1304903" cy="12332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4903" cy="1233261"/>
            </a:xfrm>
            <a:custGeom>
              <a:avLst/>
              <a:gdLst/>
              <a:ahLst/>
              <a:cxnLst/>
              <a:rect r="r" b="b" t="t" l="l"/>
              <a:pathLst>
                <a:path h="1233261" w="1304903">
                  <a:moveTo>
                    <a:pt x="89552" y="0"/>
                  </a:moveTo>
                  <a:lnTo>
                    <a:pt x="1215351" y="0"/>
                  </a:lnTo>
                  <a:cubicBezTo>
                    <a:pt x="1264809" y="0"/>
                    <a:pt x="1304903" y="40094"/>
                    <a:pt x="1304903" y="89552"/>
                  </a:cubicBezTo>
                  <a:lnTo>
                    <a:pt x="1304903" y="1143708"/>
                  </a:lnTo>
                  <a:cubicBezTo>
                    <a:pt x="1304903" y="1193167"/>
                    <a:pt x="1264809" y="1233261"/>
                    <a:pt x="1215351" y="1233261"/>
                  </a:cubicBezTo>
                  <a:lnTo>
                    <a:pt x="89552" y="1233261"/>
                  </a:lnTo>
                  <a:cubicBezTo>
                    <a:pt x="40094" y="1233261"/>
                    <a:pt x="0" y="1193167"/>
                    <a:pt x="0" y="1143708"/>
                  </a:cubicBezTo>
                  <a:lnTo>
                    <a:pt x="0" y="89552"/>
                  </a:lnTo>
                  <a:cubicBezTo>
                    <a:pt x="0" y="40094"/>
                    <a:pt x="40094" y="0"/>
                    <a:pt x="89552" y="0"/>
                  </a:cubicBezTo>
                  <a:close/>
                </a:path>
              </a:pathLst>
            </a:custGeom>
            <a:solidFill>
              <a:srgbClr val="B9C1E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04903" cy="1261836"/>
            </a:xfrm>
            <a:prstGeom prst="rect">
              <a:avLst/>
            </a:prstGeom>
          </p:spPr>
          <p:txBody>
            <a:bodyPr anchor="ctr" rtlCol="false" tIns="57616" lIns="57616" bIns="57616" rIns="57616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89167" y="3729312"/>
            <a:ext cx="4019158" cy="5310837"/>
            <a:chOff x="0" y="0"/>
            <a:chExt cx="933312" cy="12332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3312" cy="1233261"/>
            </a:xfrm>
            <a:custGeom>
              <a:avLst/>
              <a:gdLst/>
              <a:ahLst/>
              <a:cxnLst/>
              <a:rect r="r" b="b" t="t" l="l"/>
              <a:pathLst>
                <a:path h="1233261" w="933312">
                  <a:moveTo>
                    <a:pt x="0" y="0"/>
                  </a:moveTo>
                  <a:lnTo>
                    <a:pt x="933312" y="0"/>
                  </a:lnTo>
                  <a:lnTo>
                    <a:pt x="933312" y="1233261"/>
                  </a:lnTo>
                  <a:lnTo>
                    <a:pt x="0" y="1233261"/>
                  </a:lnTo>
                  <a:close/>
                </a:path>
              </a:pathLst>
            </a:custGeom>
            <a:solidFill>
              <a:srgbClr val="B9C1E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933312" cy="1261836"/>
            </a:xfrm>
            <a:prstGeom prst="rect">
              <a:avLst/>
            </a:prstGeom>
          </p:spPr>
          <p:txBody>
            <a:bodyPr anchor="ctr" rtlCol="false" tIns="57616" lIns="57616" bIns="57616" rIns="57616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89164" y="3729312"/>
            <a:ext cx="197115" cy="5310837"/>
            <a:chOff x="0" y="0"/>
            <a:chExt cx="45720" cy="12332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20" cy="1233297"/>
            </a:xfrm>
            <a:custGeom>
              <a:avLst/>
              <a:gdLst/>
              <a:ahLst/>
              <a:cxnLst/>
              <a:rect r="r" b="b" t="t" l="l"/>
              <a:pathLst>
                <a:path h="1233297" w="45720">
                  <a:moveTo>
                    <a:pt x="45720" y="0"/>
                  </a:moveTo>
                  <a:lnTo>
                    <a:pt x="45720" y="1233297"/>
                  </a:lnTo>
                  <a:lnTo>
                    <a:pt x="0" y="1233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5720" cy="1261872"/>
            </a:xfrm>
            <a:prstGeom prst="rect">
              <a:avLst/>
            </a:prstGeom>
          </p:spPr>
          <p:txBody>
            <a:bodyPr anchor="ctr" rtlCol="false" tIns="57616" lIns="57616" bIns="57616" rIns="57616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94595" y="4836393"/>
            <a:ext cx="5619352" cy="5310837"/>
            <a:chOff x="0" y="0"/>
            <a:chExt cx="1304903" cy="12332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4903" cy="1233261"/>
            </a:xfrm>
            <a:custGeom>
              <a:avLst/>
              <a:gdLst/>
              <a:ahLst/>
              <a:cxnLst/>
              <a:rect r="r" b="b" t="t" l="l"/>
              <a:pathLst>
                <a:path h="1233261" w="1304903">
                  <a:moveTo>
                    <a:pt x="89552" y="0"/>
                  </a:moveTo>
                  <a:lnTo>
                    <a:pt x="1215351" y="0"/>
                  </a:lnTo>
                  <a:cubicBezTo>
                    <a:pt x="1264809" y="0"/>
                    <a:pt x="1304903" y="40094"/>
                    <a:pt x="1304903" y="89552"/>
                  </a:cubicBezTo>
                  <a:lnTo>
                    <a:pt x="1304903" y="1143708"/>
                  </a:lnTo>
                  <a:cubicBezTo>
                    <a:pt x="1304903" y="1193167"/>
                    <a:pt x="1264809" y="1233261"/>
                    <a:pt x="1215351" y="1233261"/>
                  </a:cubicBezTo>
                  <a:lnTo>
                    <a:pt x="89552" y="1233261"/>
                  </a:lnTo>
                  <a:cubicBezTo>
                    <a:pt x="40094" y="1233261"/>
                    <a:pt x="0" y="1193167"/>
                    <a:pt x="0" y="1143708"/>
                  </a:cubicBezTo>
                  <a:lnTo>
                    <a:pt x="0" y="89552"/>
                  </a:lnTo>
                  <a:cubicBezTo>
                    <a:pt x="0" y="40094"/>
                    <a:pt x="40094" y="0"/>
                    <a:pt x="89552" y="0"/>
                  </a:cubicBezTo>
                  <a:close/>
                </a:path>
              </a:pathLst>
            </a:custGeom>
            <a:solidFill>
              <a:srgbClr val="B9C1E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304903" cy="1261836"/>
            </a:xfrm>
            <a:prstGeom prst="rect">
              <a:avLst/>
            </a:prstGeom>
          </p:spPr>
          <p:txBody>
            <a:bodyPr anchor="ctr" rtlCol="false" tIns="57616" lIns="57616" bIns="57616" rIns="57616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94595" y="4836393"/>
            <a:ext cx="4019158" cy="5310837"/>
            <a:chOff x="0" y="0"/>
            <a:chExt cx="933312" cy="12332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3312" cy="1233261"/>
            </a:xfrm>
            <a:custGeom>
              <a:avLst/>
              <a:gdLst/>
              <a:ahLst/>
              <a:cxnLst/>
              <a:rect r="r" b="b" t="t" l="l"/>
              <a:pathLst>
                <a:path h="1233261" w="933312">
                  <a:moveTo>
                    <a:pt x="0" y="0"/>
                  </a:moveTo>
                  <a:lnTo>
                    <a:pt x="933312" y="0"/>
                  </a:lnTo>
                  <a:lnTo>
                    <a:pt x="933312" y="1233261"/>
                  </a:lnTo>
                  <a:lnTo>
                    <a:pt x="0" y="1233261"/>
                  </a:lnTo>
                  <a:close/>
                </a:path>
              </a:pathLst>
            </a:custGeom>
            <a:solidFill>
              <a:srgbClr val="B9C1E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933312" cy="1261836"/>
            </a:xfrm>
            <a:prstGeom prst="rect">
              <a:avLst/>
            </a:prstGeom>
          </p:spPr>
          <p:txBody>
            <a:bodyPr anchor="ctr" rtlCol="false" tIns="57616" lIns="57616" bIns="57616" rIns="57616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342327" y="5093473"/>
            <a:ext cx="1026550" cy="1291257"/>
          </a:xfrm>
          <a:custGeom>
            <a:avLst/>
            <a:gdLst/>
            <a:ahLst/>
            <a:cxnLst/>
            <a:rect r="r" b="b" t="t" l="l"/>
            <a:pathLst>
              <a:path h="1291257" w="1026550">
                <a:moveTo>
                  <a:pt x="0" y="0"/>
                </a:moveTo>
                <a:lnTo>
                  <a:pt x="1026550" y="0"/>
                </a:lnTo>
                <a:lnTo>
                  <a:pt x="1026550" y="1291257"/>
                </a:lnTo>
                <a:lnTo>
                  <a:pt x="0" y="1291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6294592" y="4836393"/>
            <a:ext cx="197115" cy="5310837"/>
            <a:chOff x="0" y="0"/>
            <a:chExt cx="45720" cy="1233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720" cy="1233297"/>
            </a:xfrm>
            <a:custGeom>
              <a:avLst/>
              <a:gdLst/>
              <a:ahLst/>
              <a:cxnLst/>
              <a:rect r="r" b="b" t="t" l="l"/>
              <a:pathLst>
                <a:path h="1233297" w="45720">
                  <a:moveTo>
                    <a:pt x="45720" y="0"/>
                  </a:moveTo>
                  <a:lnTo>
                    <a:pt x="45720" y="1233297"/>
                  </a:lnTo>
                  <a:lnTo>
                    <a:pt x="0" y="1233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5720" cy="1261872"/>
            </a:xfrm>
            <a:prstGeom prst="rect">
              <a:avLst/>
            </a:prstGeom>
          </p:spPr>
          <p:txBody>
            <a:bodyPr anchor="ctr" rtlCol="false" tIns="57616" lIns="57616" bIns="57616" rIns="57616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588804" y="4869566"/>
            <a:ext cx="5030934" cy="527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3457" b="true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Info</a:t>
            </a:r>
            <a:r>
              <a:rPr lang="en-US" b="true" sz="3457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rmation </a:t>
            </a:r>
          </a:p>
          <a:p>
            <a:pPr algn="l">
              <a:lnSpc>
                <a:spcPts val="4668"/>
              </a:lnSpc>
            </a:pPr>
            <a:r>
              <a:rPr lang="en-US" b="true" sz="3457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Trappe</a:t>
            </a:r>
            <a:r>
              <a:rPr lang="en-US" b="true" sz="3457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 in PDFs</a:t>
            </a:r>
          </a:p>
          <a:p>
            <a:pPr algn="l">
              <a:lnSpc>
                <a:spcPts val="3294"/>
              </a:lnSpc>
            </a:pPr>
          </a:p>
          <a:p>
            <a:pPr algn="just">
              <a:lnSpc>
                <a:spcPts val="3294"/>
              </a:lnSpc>
            </a:pPr>
            <a:r>
              <a:rPr lang="en-US" sz="2440" spc="87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Crucial procedural steps are scattered across complex government circulars, multi-page legal documents, and gazette notifications. There is no single, authoritative, plain-language source that tells a citizen exactly what to do next.</a:t>
            </a:r>
          </a:p>
          <a:p>
            <a:pPr algn="just">
              <a:lnSpc>
                <a:spcPts val="3316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783191" y="3940457"/>
            <a:ext cx="4994990" cy="478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b="true" sz="3276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The Bureaucratic </a:t>
            </a:r>
          </a:p>
          <a:p>
            <a:pPr algn="l">
              <a:lnSpc>
                <a:spcPts val="4422"/>
              </a:lnSpc>
            </a:pPr>
            <a:r>
              <a:rPr lang="en-US" b="true" sz="3276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Maze</a:t>
            </a:r>
          </a:p>
          <a:p>
            <a:pPr algn="l">
              <a:lnSpc>
                <a:spcPts val="4073"/>
              </a:lnSpc>
            </a:pPr>
          </a:p>
          <a:p>
            <a:pPr algn="just">
              <a:lnSpc>
                <a:spcPts val="3142"/>
              </a:lnSpc>
            </a:pPr>
            <a:r>
              <a:rPr lang="en-US" sz="2327" spc="-51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Rights and entitlements exist across consumer protection, tenant rights, RTI, and welfare schemes — but remain chronically underutilized due to confusing statutory language, fragmented portals, and overlapping jurisdictions. Citizens face a labyrinth with no map.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0020" y="2054817"/>
            <a:ext cx="1798798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20A45"/>
                </a:solidFill>
                <a:latin typeface="Canva Sans 2"/>
                <a:ea typeface="Canva Sans 2"/>
                <a:cs typeface="Canva Sans 2"/>
                <a:sym typeface="Canva Sans 2"/>
              </a:rPr>
              <a:t>India's legal and civic framework provides extensive rights — consumer protection, tenant rights, RTI, welfare entitlements — yet the vast majority of citizens never exercise them. The barrier is not awareness; it is access.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300020" y="360002"/>
            <a:ext cx="12905356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The</a:t>
            </a:r>
            <a:r>
              <a:rPr lang="en-US" b="true" sz="6999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Problem: Citizen Friction</a:t>
            </a:r>
          </a:p>
          <a:p>
            <a:pPr algn="l">
              <a:lnSpc>
                <a:spcPts val="9799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2731213" y="3781741"/>
            <a:ext cx="4925622" cy="518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5"/>
              </a:lnSpc>
            </a:pPr>
            <a:r>
              <a:rPr lang="en-US" sz="3277" b="true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</a:t>
            </a:r>
            <a:r>
              <a:rPr lang="en-US" b="true" sz="3277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rocedural</a:t>
            </a:r>
          </a:p>
          <a:p>
            <a:pPr algn="l">
              <a:lnSpc>
                <a:spcPts val="4425"/>
              </a:lnSpc>
            </a:pPr>
            <a:r>
              <a:rPr lang="en-US" b="true" sz="3277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Rejection</a:t>
            </a:r>
          </a:p>
          <a:p>
            <a:pPr algn="l">
              <a:lnSpc>
                <a:spcPts val="4425"/>
              </a:lnSpc>
            </a:pPr>
          </a:p>
          <a:p>
            <a:pPr algn="just">
              <a:lnSpc>
                <a:spcPts val="3142"/>
              </a:lnSpc>
            </a:pPr>
            <a:r>
              <a:rPr lang="en-US" sz="2327">
                <a:solidFill>
                  <a:srgbClr val="010115"/>
                </a:solidFill>
                <a:latin typeface="Canva Sans 1"/>
                <a:ea typeface="Canva Sans 1"/>
                <a:cs typeface="Canva Sans 1"/>
                <a:sym typeface="Canva Sans 1"/>
              </a:rPr>
              <a:t>Citizens lack guidance on filing formats, applicable timelines, and correct jurisdiction. The result: improperly filed applications are rejected, disputes are abandoned, and rights violations go unaddressed — perpetuating a cycle of disempowerment.</a:t>
            </a:r>
          </a:p>
          <a:p>
            <a:pPr algn="just">
              <a:lnSpc>
                <a:spcPts val="3219"/>
              </a:lnSpc>
            </a:pP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5755310" y="3829366"/>
            <a:ext cx="1601029" cy="1552998"/>
          </a:xfrm>
          <a:custGeom>
            <a:avLst/>
            <a:gdLst/>
            <a:ahLst/>
            <a:cxnLst/>
            <a:rect r="r" b="b" t="t" l="l"/>
            <a:pathLst>
              <a:path h="1552998" w="1601029">
                <a:moveTo>
                  <a:pt x="0" y="0"/>
                </a:moveTo>
                <a:lnTo>
                  <a:pt x="1601029" y="0"/>
                </a:lnTo>
                <a:lnTo>
                  <a:pt x="1601029" y="1552999"/>
                </a:lnTo>
                <a:lnTo>
                  <a:pt x="0" y="1552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353329" y="2204284"/>
            <a:ext cx="3367609" cy="5280148"/>
            <a:chOff x="0" y="0"/>
            <a:chExt cx="4490146" cy="704019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" y="0"/>
              <a:ext cx="4490143" cy="7040197"/>
              <a:chOff x="0" y="0"/>
              <a:chExt cx="786557" cy="123326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86557" cy="1233261"/>
              </a:xfrm>
              <a:custGeom>
                <a:avLst/>
                <a:gdLst/>
                <a:ahLst/>
                <a:cxnLst/>
                <a:rect r="r" b="b" t="t" l="l"/>
                <a:pathLst>
                  <a:path h="1233261" w="786557">
                    <a:moveTo>
                      <a:pt x="148567" y="0"/>
                    </a:moveTo>
                    <a:lnTo>
                      <a:pt x="637990" y="0"/>
                    </a:lnTo>
                    <a:cubicBezTo>
                      <a:pt x="677392" y="0"/>
                      <a:pt x="715181" y="15653"/>
                      <a:pt x="743043" y="43514"/>
                    </a:cubicBezTo>
                    <a:cubicBezTo>
                      <a:pt x="770904" y="71376"/>
                      <a:pt x="786557" y="109165"/>
                      <a:pt x="786557" y="148567"/>
                    </a:cubicBezTo>
                    <a:lnTo>
                      <a:pt x="786557" y="1084693"/>
                    </a:lnTo>
                    <a:cubicBezTo>
                      <a:pt x="786557" y="1124096"/>
                      <a:pt x="770904" y="1161884"/>
                      <a:pt x="743043" y="1189746"/>
                    </a:cubicBezTo>
                    <a:cubicBezTo>
                      <a:pt x="715181" y="1217608"/>
                      <a:pt x="677392" y="1233261"/>
                      <a:pt x="637990" y="1233261"/>
                    </a:cubicBezTo>
                    <a:lnTo>
                      <a:pt x="148567" y="1233261"/>
                    </a:lnTo>
                    <a:cubicBezTo>
                      <a:pt x="109165" y="1233261"/>
                      <a:pt x="71376" y="1217608"/>
                      <a:pt x="43514" y="1189746"/>
                    </a:cubicBezTo>
                    <a:cubicBezTo>
                      <a:pt x="15653" y="1161884"/>
                      <a:pt x="0" y="1124096"/>
                      <a:pt x="0" y="1084693"/>
                    </a:cubicBezTo>
                    <a:lnTo>
                      <a:pt x="0" y="148567"/>
                    </a:lnTo>
                    <a:cubicBezTo>
                      <a:pt x="0" y="109165"/>
                      <a:pt x="15653" y="71376"/>
                      <a:pt x="43514" y="43514"/>
                    </a:cubicBezTo>
                    <a:cubicBezTo>
                      <a:pt x="71376" y="15653"/>
                      <a:pt x="109165" y="0"/>
                      <a:pt x="148567" y="0"/>
                    </a:cubicBezTo>
                    <a:close/>
                  </a:path>
                </a:pathLst>
              </a:custGeom>
              <a:solidFill>
                <a:srgbClr val="B9C1E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786557" cy="1261836"/>
              </a:xfrm>
              <a:prstGeom prst="rect">
                <a:avLst/>
              </a:prstGeom>
            </p:spPr>
            <p:txBody>
              <a:bodyPr anchor="ctr" rtlCol="false" tIns="57616" lIns="57616" bIns="57616" rIns="57616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" y="0"/>
              <a:ext cx="3211508" cy="7040197"/>
              <a:chOff x="0" y="0"/>
              <a:chExt cx="562573" cy="123326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2573" cy="1233261"/>
              </a:xfrm>
              <a:custGeom>
                <a:avLst/>
                <a:gdLst/>
                <a:ahLst/>
                <a:cxnLst/>
                <a:rect r="r" b="b" t="t" l="l"/>
                <a:pathLst>
                  <a:path h="1233261" w="562573">
                    <a:moveTo>
                      <a:pt x="0" y="0"/>
                    </a:moveTo>
                    <a:lnTo>
                      <a:pt x="562573" y="0"/>
                    </a:lnTo>
                    <a:lnTo>
                      <a:pt x="562573" y="1233261"/>
                    </a:lnTo>
                    <a:lnTo>
                      <a:pt x="0" y="1233261"/>
                    </a:lnTo>
                    <a:close/>
                  </a:path>
                </a:pathLst>
              </a:custGeom>
              <a:solidFill>
                <a:srgbClr val="B9C1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562573" cy="1261836"/>
              </a:xfrm>
              <a:prstGeom prst="rect">
                <a:avLst/>
              </a:prstGeom>
            </p:spPr>
            <p:txBody>
              <a:bodyPr anchor="ctr" rtlCol="false" tIns="57616" lIns="57616" bIns="57616" rIns="57616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57504" cy="7040197"/>
              <a:chOff x="0" y="0"/>
              <a:chExt cx="27559" cy="12332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559" cy="1233297"/>
              </a:xfrm>
              <a:custGeom>
                <a:avLst/>
                <a:gdLst/>
                <a:ahLst/>
                <a:cxnLst/>
                <a:rect r="r" b="b" t="t" l="l"/>
                <a:pathLst>
                  <a:path h="1233297" w="27559">
                    <a:moveTo>
                      <a:pt x="27559" y="0"/>
                    </a:moveTo>
                    <a:lnTo>
                      <a:pt x="27559" y="1233297"/>
                    </a:lnTo>
                    <a:lnTo>
                      <a:pt x="0" y="12332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27559" cy="1261872"/>
              </a:xfrm>
              <a:prstGeom prst="rect">
                <a:avLst/>
              </a:prstGeom>
            </p:spPr>
            <p:txBody>
              <a:bodyPr anchor="ctr" rtlCol="false" tIns="57616" lIns="57616" bIns="57616" rIns="57616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397059" y="1720209"/>
            <a:ext cx="16861281" cy="183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2622">
                <a:solidFill>
                  <a:srgbClr val="020A45"/>
                </a:solidFill>
                <a:latin typeface="Canva Sans 2"/>
                <a:ea typeface="Canva Sans 2"/>
                <a:cs typeface="Canva Sans 2"/>
                <a:sym typeface="Canva Sans 2"/>
              </a:rPr>
              <a:t>A conversational, multi-agent AI assistant that translates complex citizen grievances into structured, actionable legal and civic steps — grounded strictly in verified government sources.</a:t>
            </a:r>
          </a:p>
          <a:p>
            <a:pPr algn="l">
              <a:lnSpc>
                <a:spcPts val="3672"/>
              </a:lnSpc>
            </a:pPr>
          </a:p>
          <a:p>
            <a:pPr algn="l">
              <a:lnSpc>
                <a:spcPts val="3672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00023" y="401174"/>
            <a:ext cx="16702355" cy="210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1"/>
              </a:lnSpc>
              <a:spcBef>
                <a:spcPct val="0"/>
              </a:spcBef>
            </a:pPr>
            <a:r>
              <a:rPr lang="en-US" b="true" sz="6058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Proposed Solution &amp; Core Value Proposition</a:t>
            </a:r>
          </a:p>
          <a:p>
            <a:pPr algn="l">
              <a:lnSpc>
                <a:spcPts val="8481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5400000">
            <a:off x="7143895" y="2204284"/>
            <a:ext cx="3367609" cy="5280148"/>
            <a:chOff x="0" y="0"/>
            <a:chExt cx="4490146" cy="704019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" y="0"/>
              <a:ext cx="4490143" cy="7040197"/>
              <a:chOff x="0" y="0"/>
              <a:chExt cx="786557" cy="123326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86557" cy="1233261"/>
              </a:xfrm>
              <a:custGeom>
                <a:avLst/>
                <a:gdLst/>
                <a:ahLst/>
                <a:cxnLst/>
                <a:rect r="r" b="b" t="t" l="l"/>
                <a:pathLst>
                  <a:path h="1233261" w="786557">
                    <a:moveTo>
                      <a:pt x="148567" y="0"/>
                    </a:moveTo>
                    <a:lnTo>
                      <a:pt x="637990" y="0"/>
                    </a:lnTo>
                    <a:cubicBezTo>
                      <a:pt x="677392" y="0"/>
                      <a:pt x="715181" y="15653"/>
                      <a:pt x="743043" y="43514"/>
                    </a:cubicBezTo>
                    <a:cubicBezTo>
                      <a:pt x="770904" y="71376"/>
                      <a:pt x="786557" y="109165"/>
                      <a:pt x="786557" y="148567"/>
                    </a:cubicBezTo>
                    <a:lnTo>
                      <a:pt x="786557" y="1084693"/>
                    </a:lnTo>
                    <a:cubicBezTo>
                      <a:pt x="786557" y="1124096"/>
                      <a:pt x="770904" y="1161884"/>
                      <a:pt x="743043" y="1189746"/>
                    </a:cubicBezTo>
                    <a:cubicBezTo>
                      <a:pt x="715181" y="1217608"/>
                      <a:pt x="677392" y="1233261"/>
                      <a:pt x="637990" y="1233261"/>
                    </a:cubicBezTo>
                    <a:lnTo>
                      <a:pt x="148567" y="1233261"/>
                    </a:lnTo>
                    <a:cubicBezTo>
                      <a:pt x="109165" y="1233261"/>
                      <a:pt x="71376" y="1217608"/>
                      <a:pt x="43514" y="1189746"/>
                    </a:cubicBezTo>
                    <a:cubicBezTo>
                      <a:pt x="15653" y="1161884"/>
                      <a:pt x="0" y="1124096"/>
                      <a:pt x="0" y="1084693"/>
                    </a:cubicBezTo>
                    <a:lnTo>
                      <a:pt x="0" y="148567"/>
                    </a:lnTo>
                    <a:cubicBezTo>
                      <a:pt x="0" y="109165"/>
                      <a:pt x="15653" y="71376"/>
                      <a:pt x="43514" y="43514"/>
                    </a:cubicBezTo>
                    <a:cubicBezTo>
                      <a:pt x="71376" y="15653"/>
                      <a:pt x="109165" y="0"/>
                      <a:pt x="148567" y="0"/>
                    </a:cubicBezTo>
                    <a:close/>
                  </a:path>
                </a:pathLst>
              </a:custGeom>
              <a:solidFill>
                <a:srgbClr val="B9C1E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786557" cy="1261836"/>
              </a:xfrm>
              <a:prstGeom prst="rect">
                <a:avLst/>
              </a:prstGeom>
            </p:spPr>
            <p:txBody>
              <a:bodyPr anchor="ctr" rtlCol="false" tIns="57616" lIns="57616" bIns="57616" rIns="57616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" y="0"/>
              <a:ext cx="3211508" cy="7040197"/>
              <a:chOff x="0" y="0"/>
              <a:chExt cx="562573" cy="123326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62573" cy="1233261"/>
              </a:xfrm>
              <a:custGeom>
                <a:avLst/>
                <a:gdLst/>
                <a:ahLst/>
                <a:cxnLst/>
                <a:rect r="r" b="b" t="t" l="l"/>
                <a:pathLst>
                  <a:path h="1233261" w="562573">
                    <a:moveTo>
                      <a:pt x="0" y="0"/>
                    </a:moveTo>
                    <a:lnTo>
                      <a:pt x="562573" y="0"/>
                    </a:lnTo>
                    <a:lnTo>
                      <a:pt x="562573" y="1233261"/>
                    </a:lnTo>
                    <a:lnTo>
                      <a:pt x="0" y="1233261"/>
                    </a:lnTo>
                    <a:close/>
                  </a:path>
                </a:pathLst>
              </a:custGeom>
              <a:solidFill>
                <a:srgbClr val="B9C1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562573" cy="1261836"/>
              </a:xfrm>
              <a:prstGeom prst="rect">
                <a:avLst/>
              </a:prstGeom>
            </p:spPr>
            <p:txBody>
              <a:bodyPr anchor="ctr" rtlCol="false" tIns="57616" lIns="57616" bIns="57616" rIns="57616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157504" cy="7040197"/>
              <a:chOff x="0" y="0"/>
              <a:chExt cx="27559" cy="123329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7559" cy="1233297"/>
              </a:xfrm>
              <a:custGeom>
                <a:avLst/>
                <a:gdLst/>
                <a:ahLst/>
                <a:cxnLst/>
                <a:rect r="r" b="b" t="t" l="l"/>
                <a:pathLst>
                  <a:path h="1233297" w="27559">
                    <a:moveTo>
                      <a:pt x="27559" y="0"/>
                    </a:moveTo>
                    <a:lnTo>
                      <a:pt x="27559" y="1233297"/>
                    </a:lnTo>
                    <a:lnTo>
                      <a:pt x="0" y="12332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7559" cy="1261872"/>
              </a:xfrm>
              <a:prstGeom prst="rect">
                <a:avLst/>
              </a:prstGeom>
            </p:spPr>
            <p:txBody>
              <a:bodyPr anchor="ctr" rtlCol="false" tIns="57616" lIns="57616" bIns="57616" rIns="57616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12935421" y="2204284"/>
            <a:ext cx="3367609" cy="5280148"/>
            <a:chOff x="0" y="0"/>
            <a:chExt cx="4490146" cy="7040197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2" y="0"/>
              <a:ext cx="4490143" cy="7040197"/>
              <a:chOff x="0" y="0"/>
              <a:chExt cx="786557" cy="123326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86557" cy="1233261"/>
              </a:xfrm>
              <a:custGeom>
                <a:avLst/>
                <a:gdLst/>
                <a:ahLst/>
                <a:cxnLst/>
                <a:rect r="r" b="b" t="t" l="l"/>
                <a:pathLst>
                  <a:path h="1233261" w="786557">
                    <a:moveTo>
                      <a:pt x="148567" y="0"/>
                    </a:moveTo>
                    <a:lnTo>
                      <a:pt x="637990" y="0"/>
                    </a:lnTo>
                    <a:cubicBezTo>
                      <a:pt x="677392" y="0"/>
                      <a:pt x="715181" y="15653"/>
                      <a:pt x="743043" y="43514"/>
                    </a:cubicBezTo>
                    <a:cubicBezTo>
                      <a:pt x="770904" y="71376"/>
                      <a:pt x="786557" y="109165"/>
                      <a:pt x="786557" y="148567"/>
                    </a:cubicBezTo>
                    <a:lnTo>
                      <a:pt x="786557" y="1084693"/>
                    </a:lnTo>
                    <a:cubicBezTo>
                      <a:pt x="786557" y="1124096"/>
                      <a:pt x="770904" y="1161884"/>
                      <a:pt x="743043" y="1189746"/>
                    </a:cubicBezTo>
                    <a:cubicBezTo>
                      <a:pt x="715181" y="1217608"/>
                      <a:pt x="677392" y="1233261"/>
                      <a:pt x="637990" y="1233261"/>
                    </a:cubicBezTo>
                    <a:lnTo>
                      <a:pt x="148567" y="1233261"/>
                    </a:lnTo>
                    <a:cubicBezTo>
                      <a:pt x="109165" y="1233261"/>
                      <a:pt x="71376" y="1217608"/>
                      <a:pt x="43514" y="1189746"/>
                    </a:cubicBezTo>
                    <a:cubicBezTo>
                      <a:pt x="15653" y="1161884"/>
                      <a:pt x="0" y="1124096"/>
                      <a:pt x="0" y="1084693"/>
                    </a:cubicBezTo>
                    <a:lnTo>
                      <a:pt x="0" y="148567"/>
                    </a:lnTo>
                    <a:cubicBezTo>
                      <a:pt x="0" y="109165"/>
                      <a:pt x="15653" y="71376"/>
                      <a:pt x="43514" y="43514"/>
                    </a:cubicBezTo>
                    <a:cubicBezTo>
                      <a:pt x="71376" y="15653"/>
                      <a:pt x="109165" y="0"/>
                      <a:pt x="148567" y="0"/>
                    </a:cubicBezTo>
                    <a:close/>
                  </a:path>
                </a:pathLst>
              </a:custGeom>
              <a:solidFill>
                <a:srgbClr val="B9C1EB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786557" cy="1261836"/>
              </a:xfrm>
              <a:prstGeom prst="rect">
                <a:avLst/>
              </a:prstGeom>
            </p:spPr>
            <p:txBody>
              <a:bodyPr anchor="ctr" rtlCol="false" tIns="57616" lIns="57616" bIns="57616" rIns="57616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" y="0"/>
              <a:ext cx="3211508" cy="7040197"/>
              <a:chOff x="0" y="0"/>
              <a:chExt cx="562573" cy="123326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62573" cy="1233261"/>
              </a:xfrm>
              <a:custGeom>
                <a:avLst/>
                <a:gdLst/>
                <a:ahLst/>
                <a:cxnLst/>
                <a:rect r="r" b="b" t="t" l="l"/>
                <a:pathLst>
                  <a:path h="1233261" w="562573">
                    <a:moveTo>
                      <a:pt x="0" y="0"/>
                    </a:moveTo>
                    <a:lnTo>
                      <a:pt x="562573" y="0"/>
                    </a:lnTo>
                    <a:lnTo>
                      <a:pt x="562573" y="1233261"/>
                    </a:lnTo>
                    <a:lnTo>
                      <a:pt x="0" y="1233261"/>
                    </a:lnTo>
                    <a:close/>
                  </a:path>
                </a:pathLst>
              </a:custGeom>
              <a:solidFill>
                <a:srgbClr val="B9C1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562573" cy="1261836"/>
              </a:xfrm>
              <a:prstGeom prst="rect">
                <a:avLst/>
              </a:prstGeom>
            </p:spPr>
            <p:txBody>
              <a:bodyPr anchor="ctr" rtlCol="false" tIns="57616" lIns="57616" bIns="57616" rIns="57616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57504" cy="7040197"/>
              <a:chOff x="0" y="0"/>
              <a:chExt cx="27559" cy="123329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7559" cy="1233297"/>
              </a:xfrm>
              <a:custGeom>
                <a:avLst/>
                <a:gdLst/>
                <a:ahLst/>
                <a:cxnLst/>
                <a:rect r="r" b="b" t="t" l="l"/>
                <a:pathLst>
                  <a:path h="1233297" w="27559">
                    <a:moveTo>
                      <a:pt x="27559" y="0"/>
                    </a:moveTo>
                    <a:lnTo>
                      <a:pt x="27559" y="1233297"/>
                    </a:lnTo>
                    <a:lnTo>
                      <a:pt x="0" y="12332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27559" cy="1261872"/>
              </a:xfrm>
              <a:prstGeom prst="rect">
                <a:avLst/>
              </a:prstGeom>
            </p:spPr>
            <p:txBody>
              <a:bodyPr anchor="ctr" rtlCol="false" tIns="57616" lIns="57616" bIns="57616" rIns="57616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sp>
        <p:nvSpPr>
          <p:cNvPr name="TextBox 37" id="37"/>
          <p:cNvSpPr txBox="true"/>
          <p:nvPr/>
        </p:nvSpPr>
        <p:spPr>
          <a:xfrm rot="0">
            <a:off x="638524" y="3620925"/>
            <a:ext cx="4797220" cy="244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  <a:spcBef>
                <a:spcPct val="0"/>
              </a:spcBef>
            </a:pPr>
            <a:r>
              <a:rPr lang="en-US" b="true" sz="3364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PLAIN-LANGUAGE DEMYSTIFICATION</a:t>
            </a:r>
          </a:p>
          <a:p>
            <a:pPr algn="just">
              <a:lnSpc>
                <a:spcPts val="2502"/>
              </a:lnSpc>
              <a:spcBef>
                <a:spcPct val="0"/>
              </a:spcBef>
            </a:pPr>
            <a:r>
              <a:rPr lang="en-US" sz="1787" spc="35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Converts dense legal jargon and statutory language into simple, step-by-step actionable roadmaps that any citizen can follow — regardless of legal literacy.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52667" y="3608995"/>
            <a:ext cx="4933118" cy="248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8"/>
              </a:lnSpc>
              <a:spcBef>
                <a:spcPct val="0"/>
              </a:spcBef>
            </a:pPr>
            <a:r>
              <a:rPr lang="en-US" b="true" sz="3105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GROUNDED RE</a:t>
            </a:r>
            <a:r>
              <a:rPr lang="en-US" b="true" sz="3105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LIABILITY</a:t>
            </a:r>
          </a:p>
          <a:p>
            <a:pPr algn="just">
              <a:lnSpc>
                <a:spcPts val="2594"/>
              </a:lnSpc>
              <a:spcBef>
                <a:spcPct val="0"/>
              </a:spcBef>
            </a:pPr>
            <a:r>
              <a:rPr lang="en-US" sz="1853" spc="75">
                <a:solidFill>
                  <a:srgbClr val="010115"/>
                </a:solidFill>
                <a:latin typeface="Canva Sans 1"/>
                <a:ea typeface="Canva Sans 1"/>
                <a:cs typeface="Canva Sans 1"/>
                <a:sym typeface="Canva Sans 1"/>
              </a:rPr>
              <a:t>Retrieval-augmented generation anchored exclusively to verified government portals and statutory frameworks — eliminating hallucinated procedures and fabricated legal steps.</a:t>
            </a:r>
          </a:p>
          <a:p>
            <a:pPr algn="just">
              <a:lnSpc>
                <a:spcPts val="2594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6343204" y="3509512"/>
            <a:ext cx="4968991" cy="271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0"/>
              </a:lnSpc>
              <a:spcBef>
                <a:spcPct val="0"/>
              </a:spcBef>
            </a:pPr>
            <a:r>
              <a:rPr lang="en-US" b="true" sz="3107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</a:t>
            </a:r>
            <a:r>
              <a:rPr lang="en-US" b="true" sz="3107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UTOMATED ARTIFACT GENERATION</a:t>
            </a:r>
          </a:p>
          <a:p>
            <a:pPr algn="just">
              <a:lnSpc>
                <a:spcPts val="2595"/>
              </a:lnSpc>
              <a:spcBef>
                <a:spcPct val="0"/>
              </a:spcBef>
            </a:pPr>
            <a:r>
              <a:rPr lang="en-US" sz="1854">
                <a:solidFill>
                  <a:srgbClr val="020A45"/>
                </a:solidFill>
                <a:latin typeface="Canva Sans 1"/>
                <a:ea typeface="Canva Sans 1"/>
                <a:cs typeface="Canva Sans 1"/>
                <a:sym typeface="Canva Sans 1"/>
              </a:rPr>
              <a:t>Pr</a:t>
            </a:r>
            <a:r>
              <a:rPr lang="en-US" sz="1854">
                <a:solidFill>
                  <a:srgbClr val="020A45"/>
                </a:solidFill>
                <a:latin typeface="Canva Sans 1"/>
                <a:ea typeface="Canva Sans 1"/>
                <a:cs typeface="Canva Sans 1"/>
                <a:sym typeface="Canva Sans 1"/>
              </a:rPr>
              <a:t>e-populates compliant RTI requests under Section 6(1), formal dispute notices, consumer complaint drafts, and eligibility forms — ready to file, not just to read.</a:t>
            </a:r>
          </a:p>
          <a:p>
            <a:pPr algn="just">
              <a:lnSpc>
                <a:spcPts val="2595"/>
              </a:lnSpc>
              <a:spcBef>
                <a:spcPct val="0"/>
              </a:spcBef>
            </a:pPr>
          </a:p>
        </p:txBody>
      </p:sp>
      <p:grpSp>
        <p:nvGrpSpPr>
          <p:cNvPr name="Group 40" id="40"/>
          <p:cNvGrpSpPr/>
          <p:nvPr/>
        </p:nvGrpSpPr>
        <p:grpSpPr>
          <a:xfrm rot="5400000">
            <a:off x="3253182" y="4297191"/>
            <a:ext cx="3367608" cy="8115300"/>
            <a:chOff x="0" y="0"/>
            <a:chExt cx="786557" cy="18954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6557" cy="1895454"/>
            </a:xfrm>
            <a:custGeom>
              <a:avLst/>
              <a:gdLst/>
              <a:ahLst/>
              <a:cxnLst/>
              <a:rect r="r" b="b" t="t" l="l"/>
              <a:pathLst>
                <a:path h="1895454" w="786557">
                  <a:moveTo>
                    <a:pt x="149431" y="0"/>
                  </a:moveTo>
                  <a:lnTo>
                    <a:pt x="637126" y="0"/>
                  </a:lnTo>
                  <a:cubicBezTo>
                    <a:pt x="719655" y="0"/>
                    <a:pt x="786557" y="66903"/>
                    <a:pt x="786557" y="149431"/>
                  </a:cubicBezTo>
                  <a:lnTo>
                    <a:pt x="786557" y="1746023"/>
                  </a:lnTo>
                  <a:cubicBezTo>
                    <a:pt x="786557" y="1828552"/>
                    <a:pt x="719655" y="1895454"/>
                    <a:pt x="637126" y="1895454"/>
                  </a:cubicBezTo>
                  <a:lnTo>
                    <a:pt x="149431" y="1895454"/>
                  </a:lnTo>
                  <a:cubicBezTo>
                    <a:pt x="66903" y="1895454"/>
                    <a:pt x="0" y="1828552"/>
                    <a:pt x="0" y="1746023"/>
                  </a:cubicBezTo>
                  <a:lnTo>
                    <a:pt x="0" y="149431"/>
                  </a:lnTo>
                  <a:cubicBezTo>
                    <a:pt x="0" y="66903"/>
                    <a:pt x="66903" y="0"/>
                    <a:pt x="149431" y="0"/>
                  </a:cubicBezTo>
                  <a:close/>
                </a:path>
              </a:pathLst>
            </a:custGeom>
            <a:solidFill>
              <a:srgbClr val="B6CAD5"/>
            </a:solidFill>
            <a:ln w="38100" cap="rnd">
              <a:solidFill>
                <a:srgbClr val="020A45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786557" cy="1924029"/>
            </a:xfrm>
            <a:prstGeom prst="rect">
              <a:avLst/>
            </a:prstGeom>
          </p:spPr>
          <p:txBody>
            <a:bodyPr anchor="ctr" rtlCol="false" tIns="57283" lIns="57283" bIns="57283" rIns="57283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22361" y="7287798"/>
            <a:ext cx="7528840" cy="204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7"/>
              </a:lnSpc>
              <a:spcBef>
                <a:spcPct val="0"/>
              </a:spcBef>
            </a:pPr>
            <a:r>
              <a:rPr lang="en-US" b="true" sz="3726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Core Design Principle</a:t>
            </a:r>
          </a:p>
          <a:p>
            <a:pPr algn="just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Every output is traceable to a statutory source. Citizens receive not just guidance, but verifiable references — empowering them to act with confidence and independently verify every step.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51750" y="6893201"/>
            <a:ext cx="7507550" cy="285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2"/>
              </a:lnSpc>
              <a:spcBef>
                <a:spcPct val="0"/>
              </a:spcBef>
            </a:pPr>
            <a:r>
              <a:rPr lang="en-US" b="true" sz="3623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Who It Serves</a:t>
            </a:r>
          </a:p>
          <a:p>
            <a:pPr algn="l" marL="461724" indent="-230862" lvl="1">
              <a:lnSpc>
                <a:spcPts val="2994"/>
              </a:lnSpc>
              <a:buFont typeface="Arial"/>
              <a:buChar char="•"/>
            </a:pPr>
            <a:r>
              <a:rPr lang="en-US" sz="213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Tenants facing unlawful deposit deductions or eviction</a:t>
            </a:r>
          </a:p>
          <a:p>
            <a:pPr algn="l" marL="461724" indent="-230862" lvl="1">
              <a:lnSpc>
                <a:spcPts val="2994"/>
              </a:lnSpc>
              <a:buFont typeface="Arial"/>
              <a:buChar char="•"/>
            </a:pPr>
            <a:r>
              <a:rPr lang="en-US" sz="213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Consumers with unresolved product/service disputes</a:t>
            </a:r>
          </a:p>
          <a:p>
            <a:pPr algn="l" marL="461724" indent="-230862" lvl="1">
              <a:lnSpc>
                <a:spcPts val="2994"/>
              </a:lnSpc>
              <a:buFont typeface="Arial"/>
              <a:buChar char="•"/>
            </a:pPr>
            <a:r>
              <a:rPr lang="en-US" sz="213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Citizens seeking government information via RTI</a:t>
            </a:r>
          </a:p>
          <a:p>
            <a:pPr algn="l" marL="461724" indent="-230862" lvl="1">
              <a:lnSpc>
                <a:spcPts val="2994"/>
              </a:lnSpc>
              <a:buFont typeface="Arial"/>
              <a:buChar char="•"/>
            </a:pPr>
            <a:r>
              <a:rPr lang="en-US" sz="213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Low-income individuals identifying welfare scheme eligibility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020" y="1857849"/>
            <a:ext cx="17987980" cy="109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0">
                <a:solidFill>
                  <a:srgbClr val="020A45"/>
                </a:solidFill>
                <a:latin typeface="Canva Sans 2"/>
                <a:ea typeface="Canva Sans 2"/>
                <a:cs typeface="Canva Sans 2"/>
                <a:sym typeface="Canva Sans 2"/>
              </a:rPr>
              <a:t>The platform's reliability rests on a three-layer technical architecture: structured ingestion of government documents, retrieval-augmented generation anchored to verified sources, and mandatory safety guardrails that prevent harm and ensure appropriate escalation.</a:t>
            </a:r>
          </a:p>
          <a:p>
            <a:pPr algn="l">
              <a:lnSpc>
                <a:spcPts val="294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00020" y="350477"/>
            <a:ext cx="15122713" cy="247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0"/>
              </a:lnSpc>
              <a:spcBef>
                <a:spcPct val="0"/>
              </a:spcBef>
            </a:pPr>
            <a:r>
              <a:rPr lang="en-US" b="true" sz="7107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Te</a:t>
            </a:r>
            <a:r>
              <a:rPr lang="en-US" b="true" sz="7107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chnical Pipeline &amp; Guardrails</a:t>
            </a:r>
          </a:p>
          <a:p>
            <a:pPr algn="l">
              <a:lnSpc>
                <a:spcPts val="9950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99903" y="2954284"/>
            <a:ext cx="479480" cy="471889"/>
            <a:chOff x="0" y="0"/>
            <a:chExt cx="126283" cy="1242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283" cy="124284"/>
            </a:xfrm>
            <a:custGeom>
              <a:avLst/>
              <a:gdLst/>
              <a:ahLst/>
              <a:cxnLst/>
              <a:rect r="r" b="b" t="t" l="l"/>
              <a:pathLst>
                <a:path h="124284" w="126283">
                  <a:moveTo>
                    <a:pt x="62142" y="0"/>
                  </a:moveTo>
                  <a:lnTo>
                    <a:pt x="64141" y="0"/>
                  </a:lnTo>
                  <a:cubicBezTo>
                    <a:pt x="98461" y="0"/>
                    <a:pt x="126283" y="27822"/>
                    <a:pt x="126283" y="62142"/>
                  </a:cubicBezTo>
                  <a:lnTo>
                    <a:pt x="126283" y="62142"/>
                  </a:lnTo>
                  <a:cubicBezTo>
                    <a:pt x="126283" y="78623"/>
                    <a:pt x="119736" y="94429"/>
                    <a:pt x="108082" y="106083"/>
                  </a:cubicBezTo>
                  <a:cubicBezTo>
                    <a:pt x="96428" y="117736"/>
                    <a:pt x="80622" y="124284"/>
                    <a:pt x="64141" y="124284"/>
                  </a:cubicBezTo>
                  <a:lnTo>
                    <a:pt x="62142" y="124284"/>
                  </a:lnTo>
                  <a:cubicBezTo>
                    <a:pt x="45661" y="124284"/>
                    <a:pt x="29855" y="117736"/>
                    <a:pt x="18201" y="106083"/>
                  </a:cubicBezTo>
                  <a:cubicBezTo>
                    <a:pt x="6547" y="94429"/>
                    <a:pt x="0" y="78623"/>
                    <a:pt x="0" y="62142"/>
                  </a:cubicBezTo>
                  <a:lnTo>
                    <a:pt x="0" y="62142"/>
                  </a:lnTo>
                  <a:cubicBezTo>
                    <a:pt x="0" y="45661"/>
                    <a:pt x="6547" y="29855"/>
                    <a:pt x="18201" y="18201"/>
                  </a:cubicBezTo>
                  <a:cubicBezTo>
                    <a:pt x="29855" y="6547"/>
                    <a:pt x="45661" y="0"/>
                    <a:pt x="62142" y="0"/>
                  </a:cubicBezTo>
                  <a:close/>
                </a:path>
              </a:pathLst>
            </a:custGeom>
            <a:solidFill>
              <a:srgbClr val="96A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6283" cy="1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48194" y="2940516"/>
            <a:ext cx="182898" cy="45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  <a:spcBef>
                <a:spcPct val="0"/>
              </a:spcBef>
            </a:pPr>
            <a:r>
              <a:rPr lang="en-US" b="true" sz="2732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9383" y="2897134"/>
            <a:ext cx="48407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INGESTION &amp; PARSING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99903" y="7798949"/>
            <a:ext cx="479480" cy="471889"/>
            <a:chOff x="0" y="0"/>
            <a:chExt cx="639307" cy="62918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39307" cy="629185"/>
              <a:chOff x="0" y="0"/>
              <a:chExt cx="126283" cy="12428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6283" cy="124284"/>
              </a:xfrm>
              <a:custGeom>
                <a:avLst/>
                <a:gdLst/>
                <a:ahLst/>
                <a:cxnLst/>
                <a:rect r="r" b="b" t="t" l="l"/>
                <a:pathLst>
                  <a:path h="124284" w="126283">
                    <a:moveTo>
                      <a:pt x="62142" y="0"/>
                    </a:moveTo>
                    <a:lnTo>
                      <a:pt x="64141" y="0"/>
                    </a:lnTo>
                    <a:cubicBezTo>
                      <a:pt x="98461" y="0"/>
                      <a:pt x="126283" y="27822"/>
                      <a:pt x="126283" y="62142"/>
                    </a:cubicBezTo>
                    <a:lnTo>
                      <a:pt x="126283" y="62142"/>
                    </a:lnTo>
                    <a:cubicBezTo>
                      <a:pt x="126283" y="78623"/>
                      <a:pt x="119736" y="94429"/>
                      <a:pt x="108082" y="106083"/>
                    </a:cubicBezTo>
                    <a:cubicBezTo>
                      <a:pt x="96428" y="117736"/>
                      <a:pt x="80622" y="124284"/>
                      <a:pt x="64141" y="124284"/>
                    </a:cubicBezTo>
                    <a:lnTo>
                      <a:pt x="62142" y="124284"/>
                    </a:lnTo>
                    <a:cubicBezTo>
                      <a:pt x="45661" y="124284"/>
                      <a:pt x="29855" y="117736"/>
                      <a:pt x="18201" y="106083"/>
                    </a:cubicBezTo>
                    <a:cubicBezTo>
                      <a:pt x="6547" y="94429"/>
                      <a:pt x="0" y="78623"/>
                      <a:pt x="0" y="62142"/>
                    </a:cubicBezTo>
                    <a:lnTo>
                      <a:pt x="0" y="62142"/>
                    </a:lnTo>
                    <a:cubicBezTo>
                      <a:pt x="0" y="45661"/>
                      <a:pt x="6547" y="29855"/>
                      <a:pt x="18201" y="18201"/>
                    </a:cubicBezTo>
                    <a:cubicBezTo>
                      <a:pt x="29855" y="6547"/>
                      <a:pt x="45661" y="0"/>
                      <a:pt x="62142" y="0"/>
                    </a:cubicBezTo>
                    <a:close/>
                  </a:path>
                </a:pathLst>
              </a:custGeom>
              <a:solidFill>
                <a:srgbClr val="96A1D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26283" cy="152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97721" y="-2482"/>
              <a:ext cx="243864" cy="58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5"/>
                </a:lnSpc>
                <a:spcBef>
                  <a:spcPct val="0"/>
                </a:spcBef>
              </a:pPr>
              <a:r>
                <a:rPr lang="en-US" b="true" sz="2732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99903" y="5512375"/>
            <a:ext cx="479480" cy="471889"/>
            <a:chOff x="0" y="0"/>
            <a:chExt cx="639307" cy="62918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39307" cy="629185"/>
              <a:chOff x="0" y="0"/>
              <a:chExt cx="126283" cy="12428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6283" cy="124284"/>
              </a:xfrm>
              <a:custGeom>
                <a:avLst/>
                <a:gdLst/>
                <a:ahLst/>
                <a:cxnLst/>
                <a:rect r="r" b="b" t="t" l="l"/>
                <a:pathLst>
                  <a:path h="124284" w="126283">
                    <a:moveTo>
                      <a:pt x="62142" y="0"/>
                    </a:moveTo>
                    <a:lnTo>
                      <a:pt x="64141" y="0"/>
                    </a:lnTo>
                    <a:cubicBezTo>
                      <a:pt x="98461" y="0"/>
                      <a:pt x="126283" y="27822"/>
                      <a:pt x="126283" y="62142"/>
                    </a:cubicBezTo>
                    <a:lnTo>
                      <a:pt x="126283" y="62142"/>
                    </a:lnTo>
                    <a:cubicBezTo>
                      <a:pt x="126283" y="78623"/>
                      <a:pt x="119736" y="94429"/>
                      <a:pt x="108082" y="106083"/>
                    </a:cubicBezTo>
                    <a:cubicBezTo>
                      <a:pt x="96428" y="117736"/>
                      <a:pt x="80622" y="124284"/>
                      <a:pt x="64141" y="124284"/>
                    </a:cubicBezTo>
                    <a:lnTo>
                      <a:pt x="62142" y="124284"/>
                    </a:lnTo>
                    <a:cubicBezTo>
                      <a:pt x="45661" y="124284"/>
                      <a:pt x="29855" y="117736"/>
                      <a:pt x="18201" y="106083"/>
                    </a:cubicBezTo>
                    <a:cubicBezTo>
                      <a:pt x="6547" y="94429"/>
                      <a:pt x="0" y="78623"/>
                      <a:pt x="0" y="62142"/>
                    </a:cubicBezTo>
                    <a:lnTo>
                      <a:pt x="0" y="62142"/>
                    </a:lnTo>
                    <a:cubicBezTo>
                      <a:pt x="0" y="45661"/>
                      <a:pt x="6547" y="29855"/>
                      <a:pt x="18201" y="18201"/>
                    </a:cubicBezTo>
                    <a:cubicBezTo>
                      <a:pt x="29855" y="6547"/>
                      <a:pt x="45661" y="0"/>
                      <a:pt x="62142" y="0"/>
                    </a:cubicBezTo>
                    <a:close/>
                  </a:path>
                </a:pathLst>
              </a:custGeom>
              <a:solidFill>
                <a:srgbClr val="96A1D9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126283" cy="152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97721" y="-2482"/>
              <a:ext cx="243864" cy="58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5"/>
                </a:lnSpc>
                <a:spcBef>
                  <a:spcPct val="0"/>
                </a:spcBef>
              </a:pPr>
              <a:r>
                <a:rPr lang="en-US" b="true" sz="2732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03732" y="3570926"/>
            <a:ext cx="7913540" cy="124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9"/>
              </a:lnSpc>
              <a:spcBef>
                <a:spcPct val="0"/>
              </a:spcBef>
            </a:pPr>
            <a:r>
              <a:rPr lang="en-US" sz="182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OCR and PDF-parsing pipeline continuously ingesting public notices, official gazettes, government circulars, and statutory forms. Structured extraction converts unstructured documents into queryable knowledge chunks.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9383" y="5503844"/>
            <a:ext cx="851462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</a:t>
            </a:r>
            <a:r>
              <a:rPr lang="en-US" b="true" sz="3000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ETRIEVAL-AUGMENTED GENERATION (RAG)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03732" y="6076310"/>
            <a:ext cx="7913540" cy="93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9"/>
              </a:lnSpc>
              <a:spcBef>
                <a:spcPct val="0"/>
              </a:spcBef>
            </a:pPr>
            <a:r>
              <a:rPr lang="en-US" sz="182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Vector</a:t>
            </a:r>
            <a:r>
              <a:rPr lang="en-US" sz="182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search anchored strictly to state and central government portals. No generation occurs without a retrieved, verified source passage — ensuring every procedural step has a traceable origin.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9383" y="7215743"/>
            <a:ext cx="563033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Guardra</a:t>
            </a:r>
            <a:r>
              <a:rPr lang="en-US" b="true" sz="3000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ILS &amp; DISCLAIMERS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79383" y="8403775"/>
            <a:ext cx="8037890" cy="156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9"/>
              </a:lnSpc>
              <a:spcBef>
                <a:spcPct val="0"/>
              </a:spcBef>
            </a:pPr>
            <a:r>
              <a:rPr lang="en-US" sz="182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Autom</a:t>
            </a:r>
            <a:r>
              <a:rPr lang="en-US" sz="182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atic escalation triggers route complex cases to legal aid networks (e.g., NALSA). Mandatory "informational guidance, not legal counsel" disclaimers accompany every output. Confidence thresholds gate generation quality.</a:t>
            </a:r>
          </a:p>
          <a:p>
            <a:pPr algn="just">
              <a:lnSpc>
                <a:spcPts val="2559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0348784" y="2693741"/>
            <a:ext cx="7141977" cy="7276412"/>
            <a:chOff x="0" y="0"/>
            <a:chExt cx="1881014" cy="19164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81014" cy="1916421"/>
            </a:xfrm>
            <a:custGeom>
              <a:avLst/>
              <a:gdLst/>
              <a:ahLst/>
              <a:cxnLst/>
              <a:rect r="r" b="b" t="t" l="l"/>
              <a:pathLst>
                <a:path h="1916421" w="1881014">
                  <a:moveTo>
                    <a:pt x="37940" y="0"/>
                  </a:moveTo>
                  <a:lnTo>
                    <a:pt x="1843074" y="0"/>
                  </a:lnTo>
                  <a:cubicBezTo>
                    <a:pt x="1853137" y="0"/>
                    <a:pt x="1862787" y="3997"/>
                    <a:pt x="1869902" y="11112"/>
                  </a:cubicBezTo>
                  <a:cubicBezTo>
                    <a:pt x="1877017" y="18228"/>
                    <a:pt x="1881014" y="27878"/>
                    <a:pt x="1881014" y="37940"/>
                  </a:cubicBezTo>
                  <a:lnTo>
                    <a:pt x="1881014" y="1878481"/>
                  </a:lnTo>
                  <a:cubicBezTo>
                    <a:pt x="1881014" y="1888543"/>
                    <a:pt x="1877017" y="1898194"/>
                    <a:pt x="1869902" y="1905309"/>
                  </a:cubicBezTo>
                  <a:cubicBezTo>
                    <a:pt x="1862787" y="1912424"/>
                    <a:pt x="1853137" y="1916421"/>
                    <a:pt x="1843074" y="1916421"/>
                  </a:cubicBezTo>
                  <a:lnTo>
                    <a:pt x="37940" y="1916421"/>
                  </a:lnTo>
                  <a:cubicBezTo>
                    <a:pt x="27878" y="1916421"/>
                    <a:pt x="18228" y="1912424"/>
                    <a:pt x="11112" y="1905309"/>
                  </a:cubicBezTo>
                  <a:cubicBezTo>
                    <a:pt x="3997" y="1898194"/>
                    <a:pt x="0" y="1888543"/>
                    <a:pt x="0" y="1878481"/>
                  </a:cubicBezTo>
                  <a:lnTo>
                    <a:pt x="0" y="37940"/>
                  </a:lnTo>
                  <a:cubicBezTo>
                    <a:pt x="0" y="27878"/>
                    <a:pt x="3997" y="18228"/>
                    <a:pt x="11112" y="11112"/>
                  </a:cubicBezTo>
                  <a:cubicBezTo>
                    <a:pt x="18228" y="3997"/>
                    <a:pt x="27878" y="0"/>
                    <a:pt x="37940" y="0"/>
                  </a:cubicBezTo>
                  <a:close/>
                </a:path>
              </a:pathLst>
            </a:custGeom>
            <a:solidFill>
              <a:srgbClr val="96A1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881014" cy="194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348784" y="2752532"/>
            <a:ext cx="7016367" cy="400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2"/>
              </a:lnSpc>
            </a:pPr>
            <a:r>
              <a:rPr lang="en-US" b="true" sz="3116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Source Corpus</a:t>
            </a:r>
          </a:p>
          <a:p>
            <a:pPr algn="l">
              <a:lnSpc>
                <a:spcPts val="4362"/>
              </a:lnSpc>
            </a:pPr>
          </a:p>
          <a:p>
            <a:pPr algn="l" marL="446783" indent="-223392" lvl="1">
              <a:lnSpc>
                <a:spcPts val="3931"/>
              </a:lnSpc>
              <a:buFont typeface="Arial"/>
              <a:buChar char="•"/>
            </a:pPr>
            <a:r>
              <a:rPr lang="en-US" sz="206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RTI Act, 2005 &amp; official manuals</a:t>
            </a:r>
          </a:p>
          <a:p>
            <a:pPr algn="l" marL="446783" indent="-223392" lvl="1">
              <a:lnSpc>
                <a:spcPts val="3931"/>
              </a:lnSpc>
              <a:buFont typeface="Arial"/>
              <a:buChar char="•"/>
            </a:pPr>
            <a:r>
              <a:rPr lang="en-US" sz="206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Consumer Protection Act, 2019</a:t>
            </a:r>
          </a:p>
          <a:p>
            <a:pPr algn="l" marL="446783" indent="-223392" lvl="1">
              <a:lnSpc>
                <a:spcPts val="3931"/>
              </a:lnSpc>
              <a:buFont typeface="Arial"/>
              <a:buChar char="•"/>
            </a:pPr>
            <a:r>
              <a:rPr lang="en-US" sz="206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State-specific Rent Control Acts</a:t>
            </a:r>
          </a:p>
          <a:p>
            <a:pPr algn="l" marL="446783" indent="-223392" lvl="1">
              <a:lnSpc>
                <a:spcPts val="3931"/>
              </a:lnSpc>
              <a:buFont typeface="Arial"/>
              <a:buChar char="•"/>
            </a:pPr>
            <a:r>
              <a:rPr lang="en-US" sz="206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NALSA scheme guidelines</a:t>
            </a:r>
          </a:p>
          <a:p>
            <a:pPr algn="l" marL="446783" indent="-223392" lvl="1">
              <a:lnSpc>
                <a:spcPts val="3931"/>
              </a:lnSpc>
              <a:buFont typeface="Arial"/>
              <a:buChar char="•"/>
            </a:pPr>
            <a:r>
              <a:rPr lang="en-US" sz="206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Central &amp; state welfare portal data</a:t>
            </a:r>
          </a:p>
          <a:p>
            <a:pPr algn="l" marL="446783" indent="-223392" lvl="1">
              <a:lnSpc>
                <a:spcPts val="3931"/>
              </a:lnSpc>
              <a:buFont typeface="Arial"/>
              <a:buChar char="•"/>
            </a:pPr>
            <a:r>
              <a:rPr lang="en-US" sz="206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Official gazette notifications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509087" y="7070230"/>
            <a:ext cx="6750213" cy="47772"/>
            <a:chOff x="0" y="0"/>
            <a:chExt cx="1777834" cy="125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77834" cy="12582"/>
            </a:xfrm>
            <a:custGeom>
              <a:avLst/>
              <a:gdLst/>
              <a:ahLst/>
              <a:cxnLst/>
              <a:rect r="r" b="b" t="t" l="l"/>
              <a:pathLst>
                <a:path h="12582" w="1777834">
                  <a:moveTo>
                    <a:pt x="0" y="0"/>
                  </a:moveTo>
                  <a:lnTo>
                    <a:pt x="1777834" y="0"/>
                  </a:lnTo>
                  <a:lnTo>
                    <a:pt x="1777834" y="12582"/>
                  </a:lnTo>
                  <a:lnTo>
                    <a:pt x="0" y="125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777834" cy="50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705727" y="7060852"/>
            <a:ext cx="6356934" cy="278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3120" b="true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Key Technical Constraint</a:t>
            </a:r>
          </a:p>
          <a:p>
            <a:pPr algn="ctr">
              <a:lnSpc>
                <a:spcPts val="4368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All retrieval is jurisdiction-filtered. A query about tenant rights in Maharashtra returns Maharashtra Rent Control Act procedures — not generic or Delhi-specific guidance.</a:t>
            </a:r>
          </a:p>
          <a:p>
            <a:pPr algn="l">
              <a:lnSpc>
                <a:spcPts val="22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020" y="1857849"/>
            <a:ext cx="17987980" cy="109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0">
                <a:solidFill>
                  <a:srgbClr val="020A45"/>
                </a:solidFill>
                <a:latin typeface="Canva Sans 2"/>
                <a:ea typeface="Canva Sans 2"/>
                <a:cs typeface="Canva Sans 2"/>
                <a:sym typeface="Canva Sans 2"/>
              </a:rPr>
              <a:t>The following walkthrough illustrates the end-to-end agent pipeline using a representative tenant dispute scenario — one of the most common civic grievances filed in India.</a:t>
            </a:r>
          </a:p>
          <a:p>
            <a:pPr algn="l">
              <a:lnSpc>
                <a:spcPts val="2941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300020" y="2954284"/>
            <a:ext cx="5254920" cy="1269764"/>
            <a:chOff x="0" y="0"/>
            <a:chExt cx="1463590" cy="3536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590" cy="353652"/>
            </a:xfrm>
            <a:custGeom>
              <a:avLst/>
              <a:gdLst/>
              <a:ahLst/>
              <a:cxnLst/>
              <a:rect r="r" b="b" t="t" l="l"/>
              <a:pathLst>
                <a:path h="353652" w="1463590">
                  <a:moveTo>
                    <a:pt x="0" y="0"/>
                  </a:moveTo>
                  <a:lnTo>
                    <a:pt x="1260390" y="0"/>
                  </a:lnTo>
                  <a:lnTo>
                    <a:pt x="1463590" y="176826"/>
                  </a:lnTo>
                  <a:lnTo>
                    <a:pt x="1260390" y="353652"/>
                  </a:lnTo>
                  <a:lnTo>
                    <a:pt x="0" y="353652"/>
                  </a:lnTo>
                  <a:lnTo>
                    <a:pt x="203200" y="1768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AD5"/>
            </a:solidFill>
            <a:ln w="19050" cap="sq">
              <a:solidFill>
                <a:srgbClr val="04137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8100"/>
              <a:ext cx="1209590" cy="391752"/>
            </a:xfrm>
            <a:prstGeom prst="rect">
              <a:avLst/>
            </a:prstGeom>
          </p:spPr>
          <p:txBody>
            <a:bodyPr anchor="ctr" rtlCol="false" tIns="60563" lIns="60563" bIns="60563" rIns="605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95910" y="2954284"/>
            <a:ext cx="5254920" cy="1269764"/>
            <a:chOff x="0" y="0"/>
            <a:chExt cx="1463590" cy="3536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590" cy="353652"/>
            </a:xfrm>
            <a:custGeom>
              <a:avLst/>
              <a:gdLst/>
              <a:ahLst/>
              <a:cxnLst/>
              <a:rect r="r" b="b" t="t" l="l"/>
              <a:pathLst>
                <a:path h="353652" w="1463590">
                  <a:moveTo>
                    <a:pt x="0" y="0"/>
                  </a:moveTo>
                  <a:lnTo>
                    <a:pt x="1260390" y="0"/>
                  </a:lnTo>
                  <a:lnTo>
                    <a:pt x="1463590" y="176826"/>
                  </a:lnTo>
                  <a:lnTo>
                    <a:pt x="1260390" y="353652"/>
                  </a:lnTo>
                  <a:lnTo>
                    <a:pt x="0" y="353652"/>
                  </a:lnTo>
                  <a:lnTo>
                    <a:pt x="203200" y="1768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AD5"/>
            </a:solidFill>
            <a:ln w="19050" cap="sq">
              <a:solidFill>
                <a:srgbClr val="04137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38100"/>
              <a:ext cx="1209590" cy="391752"/>
            </a:xfrm>
            <a:prstGeom prst="rect">
              <a:avLst/>
            </a:prstGeom>
          </p:spPr>
          <p:txBody>
            <a:bodyPr anchor="ctr" rtlCol="false" tIns="60563" lIns="60563" bIns="60563" rIns="605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91800" y="2954284"/>
            <a:ext cx="5254920" cy="1269764"/>
            <a:chOff x="0" y="0"/>
            <a:chExt cx="1463590" cy="3536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590" cy="353652"/>
            </a:xfrm>
            <a:custGeom>
              <a:avLst/>
              <a:gdLst/>
              <a:ahLst/>
              <a:cxnLst/>
              <a:rect r="r" b="b" t="t" l="l"/>
              <a:pathLst>
                <a:path h="353652" w="1463590">
                  <a:moveTo>
                    <a:pt x="0" y="0"/>
                  </a:moveTo>
                  <a:lnTo>
                    <a:pt x="1260390" y="0"/>
                  </a:lnTo>
                  <a:lnTo>
                    <a:pt x="1463590" y="176826"/>
                  </a:lnTo>
                  <a:lnTo>
                    <a:pt x="1260390" y="353652"/>
                  </a:lnTo>
                  <a:lnTo>
                    <a:pt x="0" y="353652"/>
                  </a:lnTo>
                  <a:lnTo>
                    <a:pt x="203200" y="1768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AD5"/>
            </a:solidFill>
            <a:ln w="19050" cap="sq">
              <a:solidFill>
                <a:srgbClr val="04137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38100"/>
              <a:ext cx="1209590" cy="391752"/>
            </a:xfrm>
            <a:prstGeom prst="rect">
              <a:avLst/>
            </a:prstGeom>
          </p:spPr>
          <p:txBody>
            <a:bodyPr anchor="ctr" rtlCol="false" tIns="60563" lIns="60563" bIns="60563" rIns="6056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395783" y="3061579"/>
            <a:ext cx="1055174" cy="1055174"/>
          </a:xfrm>
          <a:custGeom>
            <a:avLst/>
            <a:gdLst/>
            <a:ahLst/>
            <a:cxnLst/>
            <a:rect r="r" b="b" t="t" l="l"/>
            <a:pathLst>
              <a:path h="1055174" w="1055174">
                <a:moveTo>
                  <a:pt x="0" y="0"/>
                </a:moveTo>
                <a:lnTo>
                  <a:pt x="1055174" y="0"/>
                </a:lnTo>
                <a:lnTo>
                  <a:pt x="1055174" y="1055174"/>
                </a:lnTo>
                <a:lnTo>
                  <a:pt x="0" y="105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461280" y="3019810"/>
            <a:ext cx="932402" cy="1096943"/>
          </a:xfrm>
          <a:custGeom>
            <a:avLst/>
            <a:gdLst/>
            <a:ahLst/>
            <a:cxnLst/>
            <a:rect r="r" b="b" t="t" l="l"/>
            <a:pathLst>
              <a:path h="1096943" w="932402">
                <a:moveTo>
                  <a:pt x="0" y="0"/>
                </a:moveTo>
                <a:lnTo>
                  <a:pt x="932401" y="0"/>
                </a:lnTo>
                <a:lnTo>
                  <a:pt x="932401" y="1096943"/>
                </a:lnTo>
                <a:lnTo>
                  <a:pt x="0" y="1096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65369" y="3083496"/>
            <a:ext cx="707781" cy="1033257"/>
          </a:xfrm>
          <a:custGeom>
            <a:avLst/>
            <a:gdLst/>
            <a:ahLst/>
            <a:cxnLst/>
            <a:rect r="r" b="b" t="t" l="l"/>
            <a:pathLst>
              <a:path h="1033257" w="707781">
                <a:moveTo>
                  <a:pt x="0" y="0"/>
                </a:moveTo>
                <a:lnTo>
                  <a:pt x="707781" y="0"/>
                </a:lnTo>
                <a:lnTo>
                  <a:pt x="707781" y="1033257"/>
                </a:lnTo>
                <a:lnTo>
                  <a:pt x="0" y="10332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00020" y="350477"/>
            <a:ext cx="18602261" cy="273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2"/>
              </a:lnSpc>
              <a:spcBef>
                <a:spcPct val="0"/>
              </a:spcBef>
            </a:pPr>
            <a:r>
              <a:rPr lang="en-US" b="true" sz="7887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L</a:t>
            </a:r>
            <a:r>
              <a:rPr lang="en-US" b="true" sz="7887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ive Demo: User Flow Walkthrough</a:t>
            </a:r>
          </a:p>
          <a:p>
            <a:pPr algn="l">
              <a:lnSpc>
                <a:spcPts val="11042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77473" y="4438360"/>
            <a:ext cx="4500014" cy="177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  <a:spcBef>
                <a:spcPct val="0"/>
              </a:spcBef>
            </a:pPr>
            <a:r>
              <a:rPr lang="en-US" b="true" sz="2736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Step 1: User Input</a:t>
            </a:r>
          </a:p>
          <a:p>
            <a:pPr algn="just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Plain-language complaint: "My landlord deducted my security deposit without receipts or itemized deductions."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20739" y="4433598"/>
            <a:ext cx="4841364" cy="253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2"/>
              </a:lnSpc>
              <a:spcBef>
                <a:spcPct val="0"/>
              </a:spcBef>
            </a:pPr>
            <a:r>
              <a:rPr lang="en-US" b="true" sz="2844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Step 2: Agent Processing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  <a:r>
              <a:rPr lang="en-US" sz="1971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I</a:t>
            </a:r>
            <a:r>
              <a:rPr lang="en-US" sz="1971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ntake Agent extracts jurisdiction, tenancy dates, and lease status. Rights Navigator identifies applicable Rent Control Act and Consumer Forum pathway.</a:t>
            </a:r>
          </a:p>
          <a:p>
            <a:pPr algn="just">
              <a:lnSpc>
                <a:spcPts val="275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2498577" y="4428835"/>
            <a:ext cx="5297656" cy="297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  <a:spcBef>
                <a:spcPct val="0"/>
              </a:spcBef>
            </a:pPr>
            <a:r>
              <a:rPr lang="en-US" b="true" sz="2942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Step 3: Generated Output</a:t>
            </a:r>
          </a:p>
          <a:p>
            <a:pPr algn="just">
              <a:lnSpc>
                <a:spcPts val="2854"/>
              </a:lnSpc>
              <a:spcBef>
                <a:spcPct val="0"/>
              </a:spcBef>
            </a:pPr>
            <a:r>
              <a:rPr lang="en-US" sz="203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S</a:t>
            </a:r>
            <a:r>
              <a:rPr lang="en-US" sz="203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tep-by-step dispute resolution roadmap, formal demand notice draft, and consumer dispute filing steps if unresolved — all pre-filled and ready to submit.</a:t>
            </a:r>
          </a:p>
          <a:p>
            <a:pPr algn="just">
              <a:lnSpc>
                <a:spcPts val="2854"/>
              </a:lnSpc>
              <a:spcBef>
                <a:spcPct val="0"/>
              </a:spcBef>
            </a:pPr>
          </a:p>
          <a:p>
            <a:pPr algn="just">
              <a:lnSpc>
                <a:spcPts val="2854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20527" y="7021770"/>
            <a:ext cx="7875256" cy="299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5"/>
              </a:lnSpc>
              <a:spcBef>
                <a:spcPct val="0"/>
              </a:spcBef>
            </a:pPr>
            <a:r>
              <a:rPr lang="en-US" b="true" sz="4118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What the Citizen Receives</a:t>
            </a:r>
          </a:p>
          <a:p>
            <a:pPr algn="l" marL="472323" indent="-236162" lvl="1">
              <a:lnSpc>
                <a:spcPts val="30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Jurisdiction-specific legal rights summary</a:t>
            </a:r>
          </a:p>
          <a:p>
            <a:pPr algn="l" marL="472323" indent="-236162" lvl="1">
              <a:lnSpc>
                <a:spcPts val="30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Formal demand notice (pre-filled, downloadable)</a:t>
            </a:r>
          </a:p>
          <a:p>
            <a:pPr algn="l" marL="472323" indent="-236162" lvl="1">
              <a:lnSpc>
                <a:spcPts val="30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Consumer Forum complaint draft if landlord is unresponsive</a:t>
            </a:r>
          </a:p>
          <a:p>
            <a:pPr algn="l" marL="472323" indent="-236162" lvl="1">
              <a:lnSpc>
                <a:spcPts val="30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Timeline: 30-day notice → Forum filing → Hearing schedule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94010" y="7069395"/>
            <a:ext cx="8502223" cy="2946245"/>
            <a:chOff x="0" y="0"/>
            <a:chExt cx="2239269" cy="7759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39269" cy="775966"/>
            </a:xfrm>
            <a:custGeom>
              <a:avLst/>
              <a:gdLst/>
              <a:ahLst/>
              <a:cxnLst/>
              <a:rect r="r" b="b" t="t" l="l"/>
              <a:pathLst>
                <a:path h="775966" w="2239269">
                  <a:moveTo>
                    <a:pt x="58277" y="0"/>
                  </a:moveTo>
                  <a:lnTo>
                    <a:pt x="2180992" y="0"/>
                  </a:lnTo>
                  <a:cubicBezTo>
                    <a:pt x="2196448" y="0"/>
                    <a:pt x="2211271" y="6140"/>
                    <a:pt x="2222200" y="17069"/>
                  </a:cubicBezTo>
                  <a:cubicBezTo>
                    <a:pt x="2233129" y="27998"/>
                    <a:pt x="2239269" y="42821"/>
                    <a:pt x="2239269" y="58277"/>
                  </a:cubicBezTo>
                  <a:lnTo>
                    <a:pt x="2239269" y="717689"/>
                  </a:lnTo>
                  <a:cubicBezTo>
                    <a:pt x="2239269" y="749874"/>
                    <a:pt x="2213177" y="775966"/>
                    <a:pt x="2180992" y="775966"/>
                  </a:cubicBezTo>
                  <a:lnTo>
                    <a:pt x="58277" y="775966"/>
                  </a:lnTo>
                  <a:cubicBezTo>
                    <a:pt x="26091" y="775966"/>
                    <a:pt x="0" y="749874"/>
                    <a:pt x="0" y="717689"/>
                  </a:cubicBezTo>
                  <a:lnTo>
                    <a:pt x="0" y="58277"/>
                  </a:lnTo>
                  <a:cubicBezTo>
                    <a:pt x="0" y="26091"/>
                    <a:pt x="26091" y="0"/>
                    <a:pt x="58277" y="0"/>
                  </a:cubicBezTo>
                  <a:close/>
                </a:path>
              </a:pathLst>
            </a:custGeom>
            <a:solidFill>
              <a:srgbClr val="96A1D9"/>
            </a:solidFill>
            <a:ln w="38100" cap="rnd">
              <a:solidFill>
                <a:srgbClr val="020A45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239269" cy="804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94318" y="7607946"/>
            <a:ext cx="7955930" cy="165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0"/>
              </a:lnSpc>
              <a:spcBef>
                <a:spcPct val="0"/>
              </a:spcBef>
            </a:pPr>
            <a:r>
              <a:rPr lang="en-US" b="true" sz="3278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Time to Actionable Output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What previously required a ₹5,000–₹50,000 legal consultation or hours of independent research is delivered in under 3 minutes — with full statutory citations included.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4816" y="355315"/>
            <a:ext cx="8439481" cy="376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9"/>
              </a:lnSpc>
              <a:spcBef>
                <a:spcPct val="0"/>
              </a:spcBef>
            </a:pPr>
            <a:r>
              <a:rPr lang="en-US" b="true" sz="7163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I</a:t>
            </a:r>
            <a:r>
              <a:rPr lang="en-US" b="true" sz="7163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mpact, Feasibility &amp; Next Steps</a:t>
            </a:r>
          </a:p>
          <a:p>
            <a:pPr algn="l">
              <a:lnSpc>
                <a:spcPts val="1002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911152" y="1028700"/>
            <a:ext cx="7897190" cy="9148957"/>
            <a:chOff x="0" y="0"/>
            <a:chExt cx="10529586" cy="1219860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529586" cy="12198609"/>
              <a:chOff x="0" y="0"/>
              <a:chExt cx="1752953" cy="203081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2953" cy="2030810"/>
              </a:xfrm>
              <a:custGeom>
                <a:avLst/>
                <a:gdLst/>
                <a:ahLst/>
                <a:cxnLst/>
                <a:rect r="r" b="b" t="t" l="l"/>
                <a:pathLst>
                  <a:path h="2030810" w="1752953">
                    <a:moveTo>
                      <a:pt x="86076" y="0"/>
                    </a:moveTo>
                    <a:lnTo>
                      <a:pt x="1666876" y="0"/>
                    </a:lnTo>
                    <a:cubicBezTo>
                      <a:pt x="1689705" y="0"/>
                      <a:pt x="1711599" y="9069"/>
                      <a:pt x="1727741" y="25211"/>
                    </a:cubicBezTo>
                    <a:cubicBezTo>
                      <a:pt x="1743884" y="41354"/>
                      <a:pt x="1752953" y="63247"/>
                      <a:pt x="1752953" y="86076"/>
                    </a:cubicBezTo>
                    <a:lnTo>
                      <a:pt x="1752953" y="1944733"/>
                    </a:lnTo>
                    <a:cubicBezTo>
                      <a:pt x="1752953" y="1992272"/>
                      <a:pt x="1714415" y="2030810"/>
                      <a:pt x="1666876" y="2030810"/>
                    </a:cubicBezTo>
                    <a:lnTo>
                      <a:pt x="86076" y="2030810"/>
                    </a:lnTo>
                    <a:cubicBezTo>
                      <a:pt x="38538" y="2030810"/>
                      <a:pt x="0" y="1992272"/>
                      <a:pt x="0" y="1944733"/>
                    </a:cubicBezTo>
                    <a:lnTo>
                      <a:pt x="0" y="86076"/>
                    </a:lnTo>
                    <a:cubicBezTo>
                      <a:pt x="0" y="63247"/>
                      <a:pt x="9069" y="41354"/>
                      <a:pt x="25211" y="25211"/>
                    </a:cubicBezTo>
                    <a:cubicBezTo>
                      <a:pt x="41354" y="9069"/>
                      <a:pt x="63247" y="0"/>
                      <a:pt x="86076" y="0"/>
                    </a:cubicBezTo>
                    <a:close/>
                  </a:path>
                </a:pathLst>
              </a:custGeom>
              <a:solidFill>
                <a:srgbClr val="DEEBF2"/>
              </a:solidFill>
              <a:ln w="66675" cap="rnd">
                <a:solidFill>
                  <a:srgbClr val="04137A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1752953" cy="20593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095631" y="1113838"/>
              <a:ext cx="8219655" cy="3064212"/>
              <a:chOff x="0" y="0"/>
              <a:chExt cx="1368398" cy="51012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68398" cy="510126"/>
              </a:xfrm>
              <a:custGeom>
                <a:avLst/>
                <a:gdLst/>
                <a:ahLst/>
                <a:cxnLst/>
                <a:rect r="r" b="b" t="t" l="l"/>
                <a:pathLst>
                  <a:path h="510126" w="1368398">
                    <a:moveTo>
                      <a:pt x="86425" y="0"/>
                    </a:moveTo>
                    <a:lnTo>
                      <a:pt x="1281973" y="0"/>
                    </a:lnTo>
                    <a:cubicBezTo>
                      <a:pt x="1329704" y="0"/>
                      <a:pt x="1368398" y="38694"/>
                      <a:pt x="1368398" y="86425"/>
                    </a:cubicBezTo>
                    <a:lnTo>
                      <a:pt x="1368398" y="423701"/>
                    </a:lnTo>
                    <a:cubicBezTo>
                      <a:pt x="1368398" y="471433"/>
                      <a:pt x="1329704" y="510126"/>
                      <a:pt x="1281973" y="510126"/>
                    </a:cubicBezTo>
                    <a:lnTo>
                      <a:pt x="86425" y="510126"/>
                    </a:lnTo>
                    <a:cubicBezTo>
                      <a:pt x="38694" y="510126"/>
                      <a:pt x="0" y="471433"/>
                      <a:pt x="0" y="423701"/>
                    </a:cubicBezTo>
                    <a:lnTo>
                      <a:pt x="0" y="86425"/>
                    </a:lnTo>
                    <a:cubicBezTo>
                      <a:pt x="0" y="38694"/>
                      <a:pt x="38694" y="0"/>
                      <a:pt x="864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368398" cy="5387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09427" y="5021186"/>
              <a:ext cx="8219655" cy="2951839"/>
              <a:chOff x="0" y="0"/>
              <a:chExt cx="1368398" cy="49141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68398" cy="491419"/>
              </a:xfrm>
              <a:custGeom>
                <a:avLst/>
                <a:gdLst/>
                <a:ahLst/>
                <a:cxnLst/>
                <a:rect r="r" b="b" t="t" l="l"/>
                <a:pathLst>
                  <a:path h="491419" w="1368398">
                    <a:moveTo>
                      <a:pt x="86425" y="0"/>
                    </a:moveTo>
                    <a:lnTo>
                      <a:pt x="1281973" y="0"/>
                    </a:lnTo>
                    <a:cubicBezTo>
                      <a:pt x="1329704" y="0"/>
                      <a:pt x="1368398" y="38694"/>
                      <a:pt x="1368398" y="86425"/>
                    </a:cubicBezTo>
                    <a:lnTo>
                      <a:pt x="1368398" y="404994"/>
                    </a:lnTo>
                    <a:cubicBezTo>
                      <a:pt x="1368398" y="452725"/>
                      <a:pt x="1329704" y="491419"/>
                      <a:pt x="1281973" y="491419"/>
                    </a:cubicBezTo>
                    <a:lnTo>
                      <a:pt x="86425" y="491419"/>
                    </a:lnTo>
                    <a:cubicBezTo>
                      <a:pt x="38694" y="491419"/>
                      <a:pt x="0" y="452725"/>
                      <a:pt x="0" y="404994"/>
                    </a:cubicBezTo>
                    <a:lnTo>
                      <a:pt x="0" y="86425"/>
                    </a:lnTo>
                    <a:cubicBezTo>
                      <a:pt x="0" y="38694"/>
                      <a:pt x="38694" y="0"/>
                      <a:pt x="864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368398" cy="5199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209427" y="8698719"/>
              <a:ext cx="8219655" cy="3092938"/>
              <a:chOff x="0" y="0"/>
              <a:chExt cx="1368398" cy="51490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68398" cy="514909"/>
              </a:xfrm>
              <a:custGeom>
                <a:avLst/>
                <a:gdLst/>
                <a:ahLst/>
                <a:cxnLst/>
                <a:rect r="r" b="b" t="t" l="l"/>
                <a:pathLst>
                  <a:path h="514909" w="1368398">
                    <a:moveTo>
                      <a:pt x="86425" y="0"/>
                    </a:moveTo>
                    <a:lnTo>
                      <a:pt x="1281973" y="0"/>
                    </a:lnTo>
                    <a:cubicBezTo>
                      <a:pt x="1329704" y="0"/>
                      <a:pt x="1368398" y="38694"/>
                      <a:pt x="1368398" y="86425"/>
                    </a:cubicBezTo>
                    <a:lnTo>
                      <a:pt x="1368398" y="428484"/>
                    </a:lnTo>
                    <a:cubicBezTo>
                      <a:pt x="1368398" y="476215"/>
                      <a:pt x="1329704" y="514909"/>
                      <a:pt x="1281973" y="514909"/>
                    </a:cubicBezTo>
                    <a:lnTo>
                      <a:pt x="86425" y="514909"/>
                    </a:lnTo>
                    <a:cubicBezTo>
                      <a:pt x="38694" y="514909"/>
                      <a:pt x="0" y="476215"/>
                      <a:pt x="0" y="428484"/>
                    </a:cubicBezTo>
                    <a:lnTo>
                      <a:pt x="0" y="86425"/>
                    </a:lnTo>
                    <a:cubicBezTo>
                      <a:pt x="0" y="38694"/>
                      <a:pt x="38694" y="0"/>
                      <a:pt x="864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368398" cy="5434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5400000">
              <a:off x="4791652" y="4470162"/>
              <a:ext cx="860975" cy="241073"/>
            </a:xfrm>
            <a:custGeom>
              <a:avLst/>
              <a:gdLst/>
              <a:ahLst/>
              <a:cxnLst/>
              <a:rect r="r" b="b" t="t" l="l"/>
              <a:pathLst>
                <a:path h="241073" w="860975">
                  <a:moveTo>
                    <a:pt x="0" y="0"/>
                  </a:moveTo>
                  <a:lnTo>
                    <a:pt x="860975" y="0"/>
                  </a:lnTo>
                  <a:lnTo>
                    <a:pt x="860975" y="241073"/>
                  </a:lnTo>
                  <a:lnTo>
                    <a:pt x="0" y="241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438079" y="162476"/>
              <a:ext cx="5534759" cy="930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4"/>
                </a:lnSpc>
                <a:spcBef>
                  <a:spcPct val="0"/>
                </a:spcBef>
              </a:pPr>
              <a:r>
                <a:rPr lang="en-US" b="true" sz="4203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Impact Metrics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759653" y="1359586"/>
              <a:ext cx="2540872" cy="926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1"/>
                </a:lnSpc>
                <a:spcBef>
                  <a:spcPct val="0"/>
                </a:spcBef>
              </a:pPr>
              <a:r>
                <a:rPr lang="en-US" b="true" sz="4258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~3min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23222" y="2560836"/>
              <a:ext cx="7992064" cy="1406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2"/>
                </a:lnSpc>
                <a:spcBef>
                  <a:spcPct val="0"/>
                </a:spcBef>
              </a:pPr>
              <a:r>
                <a:rPr lang="en-US" b="true" sz="2373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DRAFTING TIME</a:t>
              </a:r>
            </a:p>
            <a:p>
              <a:pPr algn="ctr">
                <a:lnSpc>
                  <a:spcPts val="2662"/>
                </a:lnSpc>
                <a:spcBef>
                  <a:spcPct val="0"/>
                </a:spcBef>
              </a:pPr>
              <a:r>
                <a:rPr lang="en-US" sz="1901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Down from hours of independent research or expensive legal consultation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040208" y="5427417"/>
              <a:ext cx="6474959" cy="2100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5"/>
                </a:lnSpc>
                <a:spcBef>
                  <a:spcPct val="0"/>
                </a:spcBef>
              </a:pPr>
              <a:r>
                <a:rPr lang="en-US" b="true" sz="2675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REJECTION RATE</a:t>
              </a:r>
            </a:p>
            <a:p>
              <a:pPr algn="ctr">
                <a:lnSpc>
                  <a:spcPts val="3002"/>
                </a:lnSpc>
                <a:spcBef>
                  <a:spcPct val="0"/>
                </a:spcBef>
              </a:pPr>
              <a:r>
                <a:rPr lang="en-US" sz="2144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Procedurally compliant outputs reduce filing rejections caused by format and jurisdiction errors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241863" y="9355777"/>
              <a:ext cx="6474959" cy="1843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2"/>
                </a:lnSpc>
                <a:spcBef>
                  <a:spcPct val="0"/>
                </a:spcBef>
              </a:pPr>
              <a:r>
                <a:rPr lang="en-US" b="true" sz="2373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CIVIC AWARENESS</a:t>
              </a:r>
            </a:p>
            <a:p>
              <a:pPr algn="ctr">
                <a:lnSpc>
                  <a:spcPts val="2662"/>
                </a:lnSpc>
                <a:spcBef>
                  <a:spcPct val="0"/>
                </a:spcBef>
              </a:pPr>
              <a:r>
                <a:rPr lang="en-US" sz="1901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Citizens learn their rights through the process of exercising them — building long-term legal literacy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5400000">
              <a:off x="4827866" y="8262605"/>
              <a:ext cx="804391" cy="225229"/>
            </a:xfrm>
            <a:custGeom>
              <a:avLst/>
              <a:gdLst/>
              <a:ahLst/>
              <a:cxnLst/>
              <a:rect r="r" b="b" t="t" l="l"/>
              <a:pathLst>
                <a:path h="225229" w="804391">
                  <a:moveTo>
                    <a:pt x="0" y="0"/>
                  </a:moveTo>
                  <a:lnTo>
                    <a:pt x="804391" y="0"/>
                  </a:lnTo>
                  <a:lnTo>
                    <a:pt x="804391" y="225229"/>
                  </a:lnTo>
                  <a:lnTo>
                    <a:pt x="0" y="225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3845" y="3219244"/>
            <a:ext cx="8550813" cy="6888185"/>
            <a:chOff x="0" y="0"/>
            <a:chExt cx="11401083" cy="918424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1401083" cy="9184246"/>
              <a:chOff x="0" y="0"/>
              <a:chExt cx="2951162" cy="237733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951162" cy="2377336"/>
              </a:xfrm>
              <a:custGeom>
                <a:avLst/>
                <a:gdLst/>
                <a:ahLst/>
                <a:cxnLst/>
                <a:rect r="r" b="b" t="t" l="l"/>
                <a:pathLst>
                  <a:path h="2377336" w="2951162">
                    <a:moveTo>
                      <a:pt x="51128" y="0"/>
                    </a:moveTo>
                    <a:lnTo>
                      <a:pt x="2900034" y="0"/>
                    </a:lnTo>
                    <a:cubicBezTo>
                      <a:pt x="2928271" y="0"/>
                      <a:pt x="2951162" y="22891"/>
                      <a:pt x="2951162" y="51128"/>
                    </a:cubicBezTo>
                    <a:lnTo>
                      <a:pt x="2951162" y="2326207"/>
                    </a:lnTo>
                    <a:cubicBezTo>
                      <a:pt x="2951162" y="2354445"/>
                      <a:pt x="2928271" y="2377336"/>
                      <a:pt x="2900034" y="2377336"/>
                    </a:cubicBezTo>
                    <a:lnTo>
                      <a:pt x="51128" y="2377336"/>
                    </a:lnTo>
                    <a:cubicBezTo>
                      <a:pt x="37568" y="2377336"/>
                      <a:pt x="24564" y="2371949"/>
                      <a:pt x="14975" y="2362360"/>
                    </a:cubicBezTo>
                    <a:cubicBezTo>
                      <a:pt x="5387" y="2352772"/>
                      <a:pt x="0" y="2339767"/>
                      <a:pt x="0" y="2326207"/>
                    </a:cubicBezTo>
                    <a:lnTo>
                      <a:pt x="0" y="51128"/>
                    </a:lnTo>
                    <a:cubicBezTo>
                      <a:pt x="0" y="22891"/>
                      <a:pt x="22891" y="0"/>
                      <a:pt x="51128" y="0"/>
                    </a:cubicBezTo>
                    <a:close/>
                  </a:path>
                </a:pathLst>
              </a:custGeom>
              <a:solidFill>
                <a:srgbClr val="DEEBF2"/>
              </a:solidFill>
              <a:ln w="66675" cap="rnd">
                <a:solidFill>
                  <a:srgbClr val="04137A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951162" cy="24059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785719" y="1124363"/>
              <a:ext cx="9658620" cy="2256894"/>
              <a:chOff x="0" y="0"/>
              <a:chExt cx="2500127" cy="58419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500127" cy="584195"/>
              </a:xfrm>
              <a:custGeom>
                <a:avLst/>
                <a:gdLst/>
                <a:ahLst/>
                <a:cxnLst/>
                <a:rect r="r" b="b" t="t" l="l"/>
                <a:pathLst>
                  <a:path h="584195" w="2500127">
                    <a:moveTo>
                      <a:pt x="47303" y="0"/>
                    </a:moveTo>
                    <a:lnTo>
                      <a:pt x="2452824" y="0"/>
                    </a:lnTo>
                    <a:cubicBezTo>
                      <a:pt x="2465370" y="0"/>
                      <a:pt x="2477401" y="4984"/>
                      <a:pt x="2486272" y="13855"/>
                    </a:cubicBezTo>
                    <a:cubicBezTo>
                      <a:pt x="2495143" y="22726"/>
                      <a:pt x="2500127" y="34757"/>
                      <a:pt x="2500127" y="47303"/>
                    </a:cubicBezTo>
                    <a:lnTo>
                      <a:pt x="2500127" y="536892"/>
                    </a:lnTo>
                    <a:cubicBezTo>
                      <a:pt x="2500127" y="563017"/>
                      <a:pt x="2478949" y="584195"/>
                      <a:pt x="2452824" y="584195"/>
                    </a:cubicBezTo>
                    <a:lnTo>
                      <a:pt x="47303" y="584195"/>
                    </a:lnTo>
                    <a:cubicBezTo>
                      <a:pt x="34757" y="584195"/>
                      <a:pt x="22726" y="579212"/>
                      <a:pt x="13855" y="570341"/>
                    </a:cubicBezTo>
                    <a:cubicBezTo>
                      <a:pt x="4984" y="561470"/>
                      <a:pt x="0" y="549438"/>
                      <a:pt x="0" y="536892"/>
                    </a:cubicBezTo>
                    <a:lnTo>
                      <a:pt x="0" y="47303"/>
                    </a:lnTo>
                    <a:cubicBezTo>
                      <a:pt x="0" y="21178"/>
                      <a:pt x="21178" y="0"/>
                      <a:pt x="473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2500127" cy="6127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871231" y="3953370"/>
              <a:ext cx="9658620" cy="2305517"/>
              <a:chOff x="0" y="0"/>
              <a:chExt cx="2500127" cy="59678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500127" cy="596781"/>
              </a:xfrm>
              <a:custGeom>
                <a:avLst/>
                <a:gdLst/>
                <a:ahLst/>
                <a:cxnLst/>
                <a:rect r="r" b="b" t="t" l="l"/>
                <a:pathLst>
                  <a:path h="596781" w="2500127">
                    <a:moveTo>
                      <a:pt x="47303" y="0"/>
                    </a:moveTo>
                    <a:lnTo>
                      <a:pt x="2452824" y="0"/>
                    </a:lnTo>
                    <a:cubicBezTo>
                      <a:pt x="2465370" y="0"/>
                      <a:pt x="2477401" y="4984"/>
                      <a:pt x="2486272" y="13855"/>
                    </a:cubicBezTo>
                    <a:cubicBezTo>
                      <a:pt x="2495143" y="22726"/>
                      <a:pt x="2500127" y="34757"/>
                      <a:pt x="2500127" y="47303"/>
                    </a:cubicBezTo>
                    <a:lnTo>
                      <a:pt x="2500127" y="549478"/>
                    </a:lnTo>
                    <a:cubicBezTo>
                      <a:pt x="2500127" y="562024"/>
                      <a:pt x="2495143" y="574056"/>
                      <a:pt x="2486272" y="582927"/>
                    </a:cubicBezTo>
                    <a:cubicBezTo>
                      <a:pt x="2477401" y="591798"/>
                      <a:pt x="2465370" y="596781"/>
                      <a:pt x="2452824" y="596781"/>
                    </a:cubicBezTo>
                    <a:lnTo>
                      <a:pt x="47303" y="596781"/>
                    </a:lnTo>
                    <a:cubicBezTo>
                      <a:pt x="21178" y="596781"/>
                      <a:pt x="0" y="575603"/>
                      <a:pt x="0" y="549478"/>
                    </a:cubicBezTo>
                    <a:lnTo>
                      <a:pt x="0" y="47303"/>
                    </a:lnTo>
                    <a:cubicBezTo>
                      <a:pt x="0" y="21178"/>
                      <a:pt x="21178" y="0"/>
                      <a:pt x="473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28575"/>
                <a:ext cx="2500127" cy="6253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871231" y="6795614"/>
              <a:ext cx="9573108" cy="2094829"/>
              <a:chOff x="0" y="0"/>
              <a:chExt cx="2477992" cy="54224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477992" cy="542245"/>
              </a:xfrm>
              <a:custGeom>
                <a:avLst/>
                <a:gdLst/>
                <a:ahLst/>
                <a:cxnLst/>
                <a:rect r="r" b="b" t="t" l="l"/>
                <a:pathLst>
                  <a:path h="542245" w="2477992">
                    <a:moveTo>
                      <a:pt x="47725" y="0"/>
                    </a:moveTo>
                    <a:lnTo>
                      <a:pt x="2430267" y="0"/>
                    </a:lnTo>
                    <a:cubicBezTo>
                      <a:pt x="2442924" y="0"/>
                      <a:pt x="2455064" y="5028"/>
                      <a:pt x="2464014" y="13978"/>
                    </a:cubicBezTo>
                    <a:cubicBezTo>
                      <a:pt x="2472964" y="22929"/>
                      <a:pt x="2477992" y="35068"/>
                      <a:pt x="2477992" y="47725"/>
                    </a:cubicBezTo>
                    <a:lnTo>
                      <a:pt x="2477992" y="494520"/>
                    </a:lnTo>
                    <a:cubicBezTo>
                      <a:pt x="2477992" y="520878"/>
                      <a:pt x="2456625" y="542245"/>
                      <a:pt x="2430267" y="542245"/>
                    </a:cubicBezTo>
                    <a:lnTo>
                      <a:pt x="47725" y="542245"/>
                    </a:lnTo>
                    <a:cubicBezTo>
                      <a:pt x="21367" y="542245"/>
                      <a:pt x="0" y="520878"/>
                      <a:pt x="0" y="494520"/>
                    </a:cubicBezTo>
                    <a:lnTo>
                      <a:pt x="0" y="47725"/>
                    </a:lnTo>
                    <a:cubicBezTo>
                      <a:pt x="0" y="21367"/>
                      <a:pt x="21367" y="0"/>
                      <a:pt x="47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2477992" cy="570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5400000">
              <a:off x="5346151" y="3580601"/>
              <a:ext cx="553735" cy="155046"/>
            </a:xfrm>
            <a:custGeom>
              <a:avLst/>
              <a:gdLst/>
              <a:ahLst/>
              <a:cxnLst/>
              <a:rect r="r" b="b" t="t" l="l"/>
              <a:pathLst>
                <a:path h="155046" w="553735">
                  <a:moveTo>
                    <a:pt x="0" y="0"/>
                  </a:moveTo>
                  <a:lnTo>
                    <a:pt x="553735" y="0"/>
                  </a:lnTo>
                  <a:lnTo>
                    <a:pt x="553735" y="155046"/>
                  </a:lnTo>
                  <a:lnTo>
                    <a:pt x="0" y="155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3090735" y="-20473"/>
              <a:ext cx="5048588" cy="1330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r>
                <a:rPr lang="en-US" b="true" sz="2900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Future Road</a:t>
              </a:r>
              <a:r>
                <a:rPr lang="en-US" b="true" sz="2900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map</a:t>
              </a:r>
            </a:p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040930" y="1271964"/>
              <a:ext cx="7916106" cy="2386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7"/>
                </a:lnSpc>
                <a:spcBef>
                  <a:spcPct val="0"/>
                </a:spcBef>
              </a:pPr>
              <a:r>
                <a:rPr lang="en-US" b="true" sz="2448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MUL</a:t>
              </a:r>
              <a:r>
                <a:rPr lang="en-US" b="true" sz="2448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TILINGUAL VOICE I/O</a:t>
              </a:r>
            </a:p>
            <a:p>
              <a:pPr algn="l">
                <a:lnSpc>
                  <a:spcPts val="2636"/>
                </a:lnSpc>
                <a:spcBef>
                  <a:spcPct val="0"/>
                </a:spcBef>
              </a:pPr>
              <a:r>
                <a:rPr lang="en-US" sz="1883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Voice-in/voice-out support for low-literacy users across regional languages — removing the text barrier entirely.</a:t>
              </a:r>
            </a:p>
            <a:p>
              <a:pPr algn="ctr">
                <a:lnSpc>
                  <a:spcPts val="3164"/>
                </a:lnSpc>
                <a:spcBef>
                  <a:spcPct val="0"/>
                </a:spcBef>
              </a:pP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040930" y="6883836"/>
              <a:ext cx="7916106" cy="1892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OFFLINE-FIRST MOBILE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Offline-capable mobile application for citizens in low-connectivity rural and semi-urban areas.</a:t>
              </a:r>
            </a:p>
            <a:p>
              <a:pPr algn="ctr">
                <a:lnSpc>
                  <a:spcPts val="2136"/>
                </a:lnSpc>
                <a:spcBef>
                  <a:spcPct val="0"/>
                </a:spcBef>
              </a:pPr>
            </a:p>
          </p:txBody>
        </p:sp>
        <p:sp>
          <p:nvSpPr>
            <p:cNvPr name="Freeform 43" id="43"/>
            <p:cNvSpPr/>
            <p:nvPr/>
          </p:nvSpPr>
          <p:spPr>
            <a:xfrm flipH="false" flipV="false" rot="5400000">
              <a:off x="5291919" y="6464514"/>
              <a:ext cx="517343" cy="144856"/>
            </a:xfrm>
            <a:custGeom>
              <a:avLst/>
              <a:gdLst/>
              <a:ahLst/>
              <a:cxnLst/>
              <a:rect r="r" b="b" t="t" l="l"/>
              <a:pathLst>
                <a:path h="144856" w="517343">
                  <a:moveTo>
                    <a:pt x="0" y="0"/>
                  </a:moveTo>
                  <a:lnTo>
                    <a:pt x="517343" y="0"/>
                  </a:lnTo>
                  <a:lnTo>
                    <a:pt x="517343" y="144856"/>
                  </a:lnTo>
                  <a:lnTo>
                    <a:pt x="0" y="144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7291950" y="4379432"/>
            <a:ext cx="756823" cy="1081176"/>
          </a:xfrm>
          <a:custGeom>
            <a:avLst/>
            <a:gdLst/>
            <a:ahLst/>
            <a:cxnLst/>
            <a:rect r="r" b="b" t="t" l="l"/>
            <a:pathLst>
              <a:path h="1081176" w="756823">
                <a:moveTo>
                  <a:pt x="0" y="0"/>
                </a:moveTo>
                <a:lnTo>
                  <a:pt x="756824" y="0"/>
                </a:lnTo>
                <a:lnTo>
                  <a:pt x="756824" y="1081176"/>
                </a:lnTo>
                <a:lnTo>
                  <a:pt x="0" y="1081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506787" y="6574717"/>
            <a:ext cx="820408" cy="911564"/>
          </a:xfrm>
          <a:custGeom>
            <a:avLst/>
            <a:gdLst/>
            <a:ahLst/>
            <a:cxnLst/>
            <a:rect r="r" b="b" t="t" l="l"/>
            <a:pathLst>
              <a:path h="911564" w="820408">
                <a:moveTo>
                  <a:pt x="0" y="0"/>
                </a:moveTo>
                <a:lnTo>
                  <a:pt x="820408" y="0"/>
                </a:lnTo>
                <a:lnTo>
                  <a:pt x="820408" y="911564"/>
                </a:lnTo>
                <a:lnTo>
                  <a:pt x="0" y="911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true" flipV="false" rot="0">
            <a:off x="7419084" y="8600706"/>
            <a:ext cx="908110" cy="853624"/>
          </a:xfrm>
          <a:custGeom>
            <a:avLst/>
            <a:gdLst/>
            <a:ahLst/>
            <a:cxnLst/>
            <a:rect r="r" b="b" t="t" l="l"/>
            <a:pathLst>
              <a:path h="853624" w="908110">
                <a:moveTo>
                  <a:pt x="908111" y="0"/>
                </a:moveTo>
                <a:lnTo>
                  <a:pt x="0" y="0"/>
                </a:lnTo>
                <a:lnTo>
                  <a:pt x="0" y="853624"/>
                </a:lnTo>
                <a:lnTo>
                  <a:pt x="908111" y="853624"/>
                </a:lnTo>
                <a:lnTo>
                  <a:pt x="90811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462325" y="6419609"/>
            <a:ext cx="6044462" cy="10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7"/>
              </a:lnSpc>
              <a:spcBef>
                <a:spcPct val="0"/>
              </a:spcBef>
            </a:pPr>
            <a:r>
              <a:rPr lang="en-US" b="true" sz="2483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PORTAL API INTEGRATION</a:t>
            </a:r>
          </a:p>
          <a:p>
            <a:pPr algn="ctr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Direct API integration with grievance portals (e.g., CPGRAMS, state RTI portals) for one-click submission.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137344" y="2963970"/>
            <a:ext cx="4428248" cy="5280148"/>
            <a:chOff x="0" y="0"/>
            <a:chExt cx="1034286" cy="1233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4286" cy="1233261"/>
            </a:xfrm>
            <a:custGeom>
              <a:avLst/>
              <a:gdLst/>
              <a:ahLst/>
              <a:cxnLst/>
              <a:rect r="r" b="b" t="t" l="l"/>
              <a:pathLst>
                <a:path h="1233261" w="1034286">
                  <a:moveTo>
                    <a:pt x="50701" y="0"/>
                  </a:moveTo>
                  <a:lnTo>
                    <a:pt x="983585" y="0"/>
                  </a:lnTo>
                  <a:cubicBezTo>
                    <a:pt x="997032" y="0"/>
                    <a:pt x="1009928" y="5342"/>
                    <a:pt x="1019436" y="14850"/>
                  </a:cubicBezTo>
                  <a:cubicBezTo>
                    <a:pt x="1028944" y="24358"/>
                    <a:pt x="1034286" y="37254"/>
                    <a:pt x="1034286" y="50701"/>
                  </a:cubicBezTo>
                  <a:lnTo>
                    <a:pt x="1034286" y="1182560"/>
                  </a:lnTo>
                  <a:cubicBezTo>
                    <a:pt x="1034286" y="1196006"/>
                    <a:pt x="1028944" y="1208902"/>
                    <a:pt x="1019436" y="1218411"/>
                  </a:cubicBezTo>
                  <a:cubicBezTo>
                    <a:pt x="1009928" y="1227919"/>
                    <a:pt x="997032" y="1233261"/>
                    <a:pt x="983585" y="1233261"/>
                  </a:cubicBezTo>
                  <a:lnTo>
                    <a:pt x="50701" y="1233261"/>
                  </a:lnTo>
                  <a:cubicBezTo>
                    <a:pt x="37254" y="1233261"/>
                    <a:pt x="24358" y="1227919"/>
                    <a:pt x="14850" y="1218411"/>
                  </a:cubicBezTo>
                  <a:cubicBezTo>
                    <a:pt x="5342" y="1208902"/>
                    <a:pt x="0" y="1196006"/>
                    <a:pt x="0" y="1182560"/>
                  </a:cubicBezTo>
                  <a:lnTo>
                    <a:pt x="0" y="50701"/>
                  </a:lnTo>
                  <a:cubicBezTo>
                    <a:pt x="0" y="37254"/>
                    <a:pt x="5342" y="24358"/>
                    <a:pt x="14850" y="14850"/>
                  </a:cubicBezTo>
                  <a:cubicBezTo>
                    <a:pt x="24358" y="5342"/>
                    <a:pt x="37254" y="0"/>
                    <a:pt x="50701" y="0"/>
                  </a:cubicBezTo>
                  <a:close/>
                </a:path>
              </a:pathLst>
            </a:custGeom>
            <a:solidFill>
              <a:srgbClr val="B9C1EB"/>
            </a:solidFill>
            <a:ln w="28575" cap="rnd">
              <a:solidFill>
                <a:srgbClr val="04137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34286" cy="1261836"/>
            </a:xfrm>
            <a:prstGeom prst="rect">
              <a:avLst/>
            </a:prstGeom>
          </p:spPr>
          <p:txBody>
            <a:bodyPr anchor="ctr" rtlCol="false" tIns="57283" lIns="57283" bIns="57283" rIns="57283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7059" y="1997529"/>
            <a:ext cx="16861281" cy="136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2622">
                <a:solidFill>
                  <a:srgbClr val="020A45"/>
                </a:solidFill>
                <a:latin typeface="Canva Sans 2"/>
                <a:ea typeface="Canva Sans 2"/>
                <a:cs typeface="Canva Sans 2"/>
                <a:sym typeface="Canva Sans 2"/>
              </a:rPr>
              <a:t>The gap between rights on paper and rights in practice is not a legal problem — it is an access and information problem. AI is uniquely positioned to close it at scale.</a:t>
            </a:r>
          </a:p>
          <a:p>
            <a:pPr algn="l">
              <a:lnSpc>
                <a:spcPts val="3672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5400000">
            <a:off x="6916196" y="2952256"/>
            <a:ext cx="4451676" cy="5280148"/>
            <a:chOff x="0" y="0"/>
            <a:chExt cx="1039758" cy="12332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9758" cy="1233261"/>
            </a:xfrm>
            <a:custGeom>
              <a:avLst/>
              <a:gdLst/>
              <a:ahLst/>
              <a:cxnLst/>
              <a:rect r="r" b="b" t="t" l="l"/>
              <a:pathLst>
                <a:path h="1233261" w="1039758">
                  <a:moveTo>
                    <a:pt x="50434" y="0"/>
                  </a:moveTo>
                  <a:lnTo>
                    <a:pt x="989324" y="0"/>
                  </a:lnTo>
                  <a:cubicBezTo>
                    <a:pt x="1017178" y="0"/>
                    <a:pt x="1039758" y="22580"/>
                    <a:pt x="1039758" y="50434"/>
                  </a:cubicBezTo>
                  <a:lnTo>
                    <a:pt x="1039758" y="1182827"/>
                  </a:lnTo>
                  <a:cubicBezTo>
                    <a:pt x="1039758" y="1210681"/>
                    <a:pt x="1017178" y="1233261"/>
                    <a:pt x="989324" y="1233261"/>
                  </a:cubicBezTo>
                  <a:lnTo>
                    <a:pt x="50434" y="1233261"/>
                  </a:lnTo>
                  <a:cubicBezTo>
                    <a:pt x="22580" y="1233261"/>
                    <a:pt x="0" y="1210681"/>
                    <a:pt x="0" y="1182827"/>
                  </a:cubicBezTo>
                  <a:lnTo>
                    <a:pt x="0" y="50434"/>
                  </a:lnTo>
                  <a:cubicBezTo>
                    <a:pt x="0" y="22580"/>
                    <a:pt x="22580" y="0"/>
                    <a:pt x="50434" y="0"/>
                  </a:cubicBezTo>
                  <a:close/>
                </a:path>
              </a:pathLst>
            </a:custGeom>
            <a:solidFill>
              <a:srgbClr val="B9C1EB"/>
            </a:solidFill>
            <a:ln w="28575" cap="rnd">
              <a:solidFill>
                <a:srgbClr val="04137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39758" cy="1261836"/>
            </a:xfrm>
            <a:prstGeom prst="rect">
              <a:avLst/>
            </a:prstGeom>
          </p:spPr>
          <p:txBody>
            <a:bodyPr anchor="ctr" rtlCol="false" tIns="57283" lIns="57283" bIns="57283" rIns="57283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12722408" y="2963970"/>
            <a:ext cx="4428248" cy="5280148"/>
            <a:chOff x="0" y="0"/>
            <a:chExt cx="1034286" cy="12332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4286" cy="1233261"/>
            </a:xfrm>
            <a:custGeom>
              <a:avLst/>
              <a:gdLst/>
              <a:ahLst/>
              <a:cxnLst/>
              <a:rect r="r" b="b" t="t" l="l"/>
              <a:pathLst>
                <a:path h="1233261" w="1034286">
                  <a:moveTo>
                    <a:pt x="50701" y="0"/>
                  </a:moveTo>
                  <a:lnTo>
                    <a:pt x="983585" y="0"/>
                  </a:lnTo>
                  <a:cubicBezTo>
                    <a:pt x="997032" y="0"/>
                    <a:pt x="1009928" y="5342"/>
                    <a:pt x="1019436" y="14850"/>
                  </a:cubicBezTo>
                  <a:cubicBezTo>
                    <a:pt x="1028944" y="24358"/>
                    <a:pt x="1034286" y="37254"/>
                    <a:pt x="1034286" y="50701"/>
                  </a:cubicBezTo>
                  <a:lnTo>
                    <a:pt x="1034286" y="1182560"/>
                  </a:lnTo>
                  <a:cubicBezTo>
                    <a:pt x="1034286" y="1196006"/>
                    <a:pt x="1028944" y="1208902"/>
                    <a:pt x="1019436" y="1218411"/>
                  </a:cubicBezTo>
                  <a:cubicBezTo>
                    <a:pt x="1009928" y="1227919"/>
                    <a:pt x="997032" y="1233261"/>
                    <a:pt x="983585" y="1233261"/>
                  </a:cubicBezTo>
                  <a:lnTo>
                    <a:pt x="50701" y="1233261"/>
                  </a:lnTo>
                  <a:cubicBezTo>
                    <a:pt x="37254" y="1233261"/>
                    <a:pt x="24358" y="1227919"/>
                    <a:pt x="14850" y="1218411"/>
                  </a:cubicBezTo>
                  <a:cubicBezTo>
                    <a:pt x="5342" y="1208902"/>
                    <a:pt x="0" y="1196006"/>
                    <a:pt x="0" y="1182560"/>
                  </a:cubicBezTo>
                  <a:lnTo>
                    <a:pt x="0" y="50701"/>
                  </a:lnTo>
                  <a:cubicBezTo>
                    <a:pt x="0" y="37254"/>
                    <a:pt x="5342" y="24358"/>
                    <a:pt x="14850" y="14850"/>
                  </a:cubicBezTo>
                  <a:cubicBezTo>
                    <a:pt x="24358" y="5342"/>
                    <a:pt x="37254" y="0"/>
                    <a:pt x="50701" y="0"/>
                  </a:cubicBezTo>
                  <a:close/>
                </a:path>
              </a:pathLst>
            </a:custGeom>
            <a:solidFill>
              <a:srgbClr val="B9C1EB"/>
            </a:solidFill>
            <a:ln w="28575" cap="rnd">
              <a:solidFill>
                <a:srgbClr val="04137A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34286" cy="1261836"/>
            </a:xfrm>
            <a:prstGeom prst="rect">
              <a:avLst/>
            </a:prstGeom>
          </p:spPr>
          <p:txBody>
            <a:bodyPr anchor="ctr" rtlCol="false" tIns="57283" lIns="57283" bIns="57283" rIns="57283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92022" y="3550657"/>
            <a:ext cx="803470" cy="832611"/>
          </a:xfrm>
          <a:custGeom>
            <a:avLst/>
            <a:gdLst/>
            <a:ahLst/>
            <a:cxnLst/>
            <a:rect r="r" b="b" t="t" l="l"/>
            <a:pathLst>
              <a:path h="832611" w="803470">
                <a:moveTo>
                  <a:pt x="0" y="0"/>
                </a:moveTo>
                <a:lnTo>
                  <a:pt x="803470" y="0"/>
                </a:lnTo>
                <a:lnTo>
                  <a:pt x="803470" y="832611"/>
                </a:lnTo>
                <a:lnTo>
                  <a:pt x="0" y="832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741832" y="3550657"/>
            <a:ext cx="457457" cy="672730"/>
          </a:xfrm>
          <a:custGeom>
            <a:avLst/>
            <a:gdLst/>
            <a:ahLst/>
            <a:cxnLst/>
            <a:rect r="r" b="b" t="t" l="l"/>
            <a:pathLst>
              <a:path h="672730" w="457457">
                <a:moveTo>
                  <a:pt x="0" y="0"/>
                </a:moveTo>
                <a:lnTo>
                  <a:pt x="457457" y="0"/>
                </a:lnTo>
                <a:lnTo>
                  <a:pt x="457457" y="672730"/>
                </a:lnTo>
                <a:lnTo>
                  <a:pt x="0" y="67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385093" y="3550657"/>
            <a:ext cx="742208" cy="742208"/>
          </a:xfrm>
          <a:custGeom>
            <a:avLst/>
            <a:gdLst/>
            <a:ahLst/>
            <a:cxnLst/>
            <a:rect r="r" b="b" t="t" l="l"/>
            <a:pathLst>
              <a:path h="742208" w="742208">
                <a:moveTo>
                  <a:pt x="0" y="0"/>
                </a:moveTo>
                <a:lnTo>
                  <a:pt x="742208" y="0"/>
                </a:lnTo>
                <a:lnTo>
                  <a:pt x="742208" y="742208"/>
                </a:lnTo>
                <a:lnTo>
                  <a:pt x="0" y="742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5400000">
            <a:off x="8281646" y="453534"/>
            <a:ext cx="1558852" cy="17031069"/>
            <a:chOff x="0" y="0"/>
            <a:chExt cx="364094" cy="39778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4094" cy="3977871"/>
            </a:xfrm>
            <a:custGeom>
              <a:avLst/>
              <a:gdLst/>
              <a:ahLst/>
              <a:cxnLst/>
              <a:rect r="r" b="b" t="t" l="l"/>
              <a:pathLst>
                <a:path h="3977871" w="364094">
                  <a:moveTo>
                    <a:pt x="144026" y="0"/>
                  </a:moveTo>
                  <a:lnTo>
                    <a:pt x="220068" y="0"/>
                  </a:lnTo>
                  <a:cubicBezTo>
                    <a:pt x="299611" y="0"/>
                    <a:pt x="364094" y="64483"/>
                    <a:pt x="364094" y="144026"/>
                  </a:cubicBezTo>
                  <a:lnTo>
                    <a:pt x="364094" y="3833845"/>
                  </a:lnTo>
                  <a:cubicBezTo>
                    <a:pt x="364094" y="3913388"/>
                    <a:pt x="299611" y="3977871"/>
                    <a:pt x="220068" y="3977871"/>
                  </a:cubicBezTo>
                  <a:lnTo>
                    <a:pt x="144026" y="3977871"/>
                  </a:lnTo>
                  <a:cubicBezTo>
                    <a:pt x="64483" y="3977871"/>
                    <a:pt x="0" y="3913388"/>
                    <a:pt x="0" y="3833845"/>
                  </a:cubicBezTo>
                  <a:lnTo>
                    <a:pt x="0" y="144026"/>
                  </a:lnTo>
                  <a:cubicBezTo>
                    <a:pt x="0" y="64483"/>
                    <a:pt x="64483" y="0"/>
                    <a:pt x="144026" y="0"/>
                  </a:cubicBezTo>
                  <a:close/>
                </a:path>
              </a:pathLst>
            </a:custGeom>
            <a:solidFill>
              <a:srgbClr val="B9C1EB"/>
            </a:solidFill>
            <a:ln w="28575" cap="rnd">
              <a:solidFill>
                <a:srgbClr val="04137A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64094" cy="4006446"/>
            </a:xfrm>
            <a:prstGeom prst="rect">
              <a:avLst/>
            </a:prstGeom>
          </p:spPr>
          <p:txBody>
            <a:bodyPr anchor="ctr" rtlCol="false" tIns="57283" lIns="57283" bIns="57283" rIns="57283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49378" y="8448359"/>
            <a:ext cx="1092228" cy="1149714"/>
          </a:xfrm>
          <a:custGeom>
            <a:avLst/>
            <a:gdLst/>
            <a:ahLst/>
            <a:cxnLst/>
            <a:rect r="r" b="b" t="t" l="l"/>
            <a:pathLst>
              <a:path h="1149714" w="1092228">
                <a:moveTo>
                  <a:pt x="0" y="0"/>
                </a:moveTo>
                <a:lnTo>
                  <a:pt x="1092228" y="0"/>
                </a:lnTo>
                <a:lnTo>
                  <a:pt x="1092228" y="1149714"/>
                </a:lnTo>
                <a:lnTo>
                  <a:pt x="0" y="11497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0023" y="401174"/>
            <a:ext cx="16702355" cy="210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1"/>
              </a:lnSpc>
              <a:spcBef>
                <a:spcPct val="0"/>
              </a:spcBef>
            </a:pPr>
            <a:r>
              <a:rPr lang="en-US" b="true" sz="6058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Why</a:t>
            </a:r>
            <a:r>
              <a:rPr lang="en-US" b="true" sz="6058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This Matters: The Rights Gap</a:t>
            </a:r>
          </a:p>
          <a:p>
            <a:pPr algn="l">
              <a:lnSpc>
                <a:spcPts val="8481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682617" y="3681213"/>
            <a:ext cx="39806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Awareness vs. Access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85014" y="3576041"/>
            <a:ext cx="4219230" cy="57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4"/>
              </a:lnSpc>
              <a:spcBef>
                <a:spcPct val="0"/>
              </a:spcBef>
            </a:pPr>
            <a:r>
              <a:rPr lang="en-US" b="true" sz="3353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Time &amp; Cost Barriers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51695" y="3601272"/>
            <a:ext cx="48063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The Rejection Cascade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4899" y="4707118"/>
            <a:ext cx="4853137" cy="279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8"/>
              </a:lnSpc>
              <a:spcBef>
                <a:spcPct val="0"/>
              </a:spcBef>
            </a:pPr>
            <a:r>
              <a:rPr lang="en-US" sz="2291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Citizens broadly know that rights exist — consumer protection, RTI, tenant protections — but do not know how to exercise them. This creates a massive implementation gap that legal awareness campaigns alone cannot close.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59435" y="4708157"/>
            <a:ext cx="4965199" cy="27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Legal consultation for even simple grievances averages ₹5,000–₹50,000+ — pricing out the low- and middle-income citizens who most need protection. Time costs compound this: navigating portals independently can take days.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33377" y="4426215"/>
            <a:ext cx="4806310" cy="318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Improperly filed applications are rejected on procedural grounds. Rejection discourages re-filing. Repeated rejection normalizes the violation — and the citizen gives up. This cascade is the primary mechanism by which rights go unenforced.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15426" y="8400734"/>
            <a:ext cx="13369315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The platform targets the implementation gap — not legal reform. The laws are already sufficient. The missing layer is accessible, reliable procedural guidance at the moment a citizen needs it.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020" y="2064342"/>
            <a:ext cx="17804424" cy="12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>
                <a:solidFill>
                  <a:srgbClr val="020A45"/>
                </a:solidFill>
                <a:latin typeface="Canva Sans 2"/>
                <a:ea typeface="Canva Sans 2"/>
                <a:cs typeface="Canva Sans 2"/>
                <a:sym typeface="Canva Sans 2"/>
              </a:rPr>
              <a:t>The platform operates as a coordinated ecosystem of four specialist sub-agents, each optimized for a distinct class of civic and legal task. An intake layer routes each grievance to the appropriate agent based on complaint type and jurisdiction.</a:t>
            </a:r>
          </a:p>
          <a:p>
            <a:pPr algn="l">
              <a:lnSpc>
                <a:spcPts val="33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00020" y="360002"/>
            <a:ext cx="14894004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System</a:t>
            </a:r>
            <a:r>
              <a:rPr lang="en-US" b="true" sz="6999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Architecture: Sub-Agents</a:t>
            </a:r>
          </a:p>
          <a:p>
            <a:pPr algn="l">
              <a:lnSpc>
                <a:spcPts val="9799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459473" y="3306709"/>
            <a:ext cx="8329309" cy="3215334"/>
            <a:chOff x="0" y="0"/>
            <a:chExt cx="11105746" cy="428711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105746" cy="4287112"/>
              <a:chOff x="0" y="0"/>
              <a:chExt cx="2193728" cy="84683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93728" cy="846837"/>
              </a:xfrm>
              <a:custGeom>
                <a:avLst/>
                <a:gdLst/>
                <a:ahLst/>
                <a:cxnLst/>
                <a:rect r="r" b="b" t="t" l="l"/>
                <a:pathLst>
                  <a:path h="846837" w="2193728">
                    <a:moveTo>
                      <a:pt x="32532" y="0"/>
                    </a:moveTo>
                    <a:lnTo>
                      <a:pt x="2161196" y="0"/>
                    </a:lnTo>
                    <a:cubicBezTo>
                      <a:pt x="2179163" y="0"/>
                      <a:pt x="2193728" y="14565"/>
                      <a:pt x="2193728" y="32532"/>
                    </a:cubicBezTo>
                    <a:lnTo>
                      <a:pt x="2193728" y="814305"/>
                    </a:lnTo>
                    <a:cubicBezTo>
                      <a:pt x="2193728" y="822933"/>
                      <a:pt x="2190300" y="831208"/>
                      <a:pt x="2184199" y="837309"/>
                    </a:cubicBezTo>
                    <a:cubicBezTo>
                      <a:pt x="2178098" y="843410"/>
                      <a:pt x="2169824" y="846837"/>
                      <a:pt x="2161196" y="846837"/>
                    </a:cubicBezTo>
                    <a:lnTo>
                      <a:pt x="32532" y="846837"/>
                    </a:lnTo>
                    <a:cubicBezTo>
                      <a:pt x="23904" y="846837"/>
                      <a:pt x="15629" y="843410"/>
                      <a:pt x="9528" y="837309"/>
                    </a:cubicBezTo>
                    <a:cubicBezTo>
                      <a:pt x="3427" y="831208"/>
                      <a:pt x="0" y="822933"/>
                      <a:pt x="0" y="814305"/>
                    </a:cubicBezTo>
                    <a:lnTo>
                      <a:pt x="0" y="32532"/>
                    </a:lnTo>
                    <a:cubicBezTo>
                      <a:pt x="0" y="23904"/>
                      <a:pt x="3427" y="15629"/>
                      <a:pt x="9528" y="9528"/>
                    </a:cubicBezTo>
                    <a:cubicBezTo>
                      <a:pt x="15629" y="3427"/>
                      <a:pt x="23904" y="0"/>
                      <a:pt x="32532" y="0"/>
                    </a:cubicBezTo>
                    <a:close/>
                  </a:path>
                </a:pathLst>
              </a:custGeom>
              <a:solidFill>
                <a:srgbClr val="96A1D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193728" cy="875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1105746" cy="511400"/>
              <a:chOff x="0" y="0"/>
              <a:chExt cx="2193728" cy="10101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93728" cy="101017"/>
              </a:xfrm>
              <a:custGeom>
                <a:avLst/>
                <a:gdLst/>
                <a:ahLst/>
                <a:cxnLst/>
                <a:rect r="r" b="b" t="t" l="l"/>
                <a:pathLst>
                  <a:path h="101017" w="2193728">
                    <a:moveTo>
                      <a:pt x="33461" y="0"/>
                    </a:moveTo>
                    <a:lnTo>
                      <a:pt x="2160266" y="0"/>
                    </a:lnTo>
                    <a:cubicBezTo>
                      <a:pt x="2178746" y="0"/>
                      <a:pt x="2193728" y="14981"/>
                      <a:pt x="2193728" y="33461"/>
                    </a:cubicBezTo>
                    <a:lnTo>
                      <a:pt x="2193728" y="67556"/>
                    </a:lnTo>
                    <a:cubicBezTo>
                      <a:pt x="2193728" y="76430"/>
                      <a:pt x="2190202" y="84941"/>
                      <a:pt x="2183927" y="91217"/>
                    </a:cubicBezTo>
                    <a:cubicBezTo>
                      <a:pt x="2177652" y="97492"/>
                      <a:pt x="2169141" y="101017"/>
                      <a:pt x="2160266" y="101017"/>
                    </a:cubicBezTo>
                    <a:lnTo>
                      <a:pt x="33461" y="101017"/>
                    </a:lnTo>
                    <a:cubicBezTo>
                      <a:pt x="24587" y="101017"/>
                      <a:pt x="16076" y="97492"/>
                      <a:pt x="9801" y="91217"/>
                    </a:cubicBezTo>
                    <a:cubicBezTo>
                      <a:pt x="3525" y="84941"/>
                      <a:pt x="0" y="76430"/>
                      <a:pt x="0" y="67556"/>
                    </a:cubicBezTo>
                    <a:lnTo>
                      <a:pt x="0" y="33461"/>
                    </a:lnTo>
                    <a:cubicBezTo>
                      <a:pt x="0" y="24587"/>
                      <a:pt x="3525" y="16076"/>
                      <a:pt x="9801" y="9801"/>
                    </a:cubicBezTo>
                    <a:cubicBezTo>
                      <a:pt x="16076" y="3525"/>
                      <a:pt x="24587" y="0"/>
                      <a:pt x="33461" y="0"/>
                    </a:cubicBez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193728" cy="129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206545"/>
              <a:ext cx="11105746" cy="304855"/>
              <a:chOff x="0" y="0"/>
              <a:chExt cx="2193728" cy="6021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93728" cy="60218"/>
              </a:xfrm>
              <a:custGeom>
                <a:avLst/>
                <a:gdLst/>
                <a:ahLst/>
                <a:cxnLst/>
                <a:rect r="r" b="b" t="t" l="l"/>
                <a:pathLst>
                  <a:path h="60218" w="2193728">
                    <a:moveTo>
                      <a:pt x="0" y="0"/>
                    </a:moveTo>
                    <a:lnTo>
                      <a:pt x="2193728" y="0"/>
                    </a:lnTo>
                    <a:lnTo>
                      <a:pt x="2193728" y="60218"/>
                    </a:lnTo>
                    <a:lnTo>
                      <a:pt x="0" y="60218"/>
                    </a:ln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193728" cy="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459473" y="6874090"/>
            <a:ext cx="8329309" cy="3215334"/>
            <a:chOff x="0" y="0"/>
            <a:chExt cx="11105746" cy="428711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105746" cy="4287112"/>
              <a:chOff x="0" y="0"/>
              <a:chExt cx="2193728" cy="84683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93728" cy="846837"/>
              </a:xfrm>
              <a:custGeom>
                <a:avLst/>
                <a:gdLst/>
                <a:ahLst/>
                <a:cxnLst/>
                <a:rect r="r" b="b" t="t" l="l"/>
                <a:pathLst>
                  <a:path h="846837" w="2193728">
                    <a:moveTo>
                      <a:pt x="32532" y="0"/>
                    </a:moveTo>
                    <a:lnTo>
                      <a:pt x="2161196" y="0"/>
                    </a:lnTo>
                    <a:cubicBezTo>
                      <a:pt x="2179163" y="0"/>
                      <a:pt x="2193728" y="14565"/>
                      <a:pt x="2193728" y="32532"/>
                    </a:cubicBezTo>
                    <a:lnTo>
                      <a:pt x="2193728" y="814305"/>
                    </a:lnTo>
                    <a:cubicBezTo>
                      <a:pt x="2193728" y="822933"/>
                      <a:pt x="2190300" y="831208"/>
                      <a:pt x="2184199" y="837309"/>
                    </a:cubicBezTo>
                    <a:cubicBezTo>
                      <a:pt x="2178098" y="843410"/>
                      <a:pt x="2169824" y="846837"/>
                      <a:pt x="2161196" y="846837"/>
                    </a:cubicBezTo>
                    <a:lnTo>
                      <a:pt x="32532" y="846837"/>
                    </a:lnTo>
                    <a:cubicBezTo>
                      <a:pt x="23904" y="846837"/>
                      <a:pt x="15629" y="843410"/>
                      <a:pt x="9528" y="837309"/>
                    </a:cubicBezTo>
                    <a:cubicBezTo>
                      <a:pt x="3427" y="831208"/>
                      <a:pt x="0" y="822933"/>
                      <a:pt x="0" y="814305"/>
                    </a:cubicBezTo>
                    <a:lnTo>
                      <a:pt x="0" y="32532"/>
                    </a:lnTo>
                    <a:cubicBezTo>
                      <a:pt x="0" y="23904"/>
                      <a:pt x="3427" y="15629"/>
                      <a:pt x="9528" y="9528"/>
                    </a:cubicBezTo>
                    <a:cubicBezTo>
                      <a:pt x="15629" y="3427"/>
                      <a:pt x="23904" y="0"/>
                      <a:pt x="32532" y="0"/>
                    </a:cubicBezTo>
                    <a:close/>
                  </a:path>
                </a:pathLst>
              </a:custGeom>
              <a:solidFill>
                <a:srgbClr val="96A1D9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2193728" cy="875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11105746" cy="511400"/>
              <a:chOff x="0" y="0"/>
              <a:chExt cx="2193728" cy="10101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3728" cy="101017"/>
              </a:xfrm>
              <a:custGeom>
                <a:avLst/>
                <a:gdLst/>
                <a:ahLst/>
                <a:cxnLst/>
                <a:rect r="r" b="b" t="t" l="l"/>
                <a:pathLst>
                  <a:path h="101017" w="2193728">
                    <a:moveTo>
                      <a:pt x="33461" y="0"/>
                    </a:moveTo>
                    <a:lnTo>
                      <a:pt x="2160266" y="0"/>
                    </a:lnTo>
                    <a:cubicBezTo>
                      <a:pt x="2178746" y="0"/>
                      <a:pt x="2193728" y="14981"/>
                      <a:pt x="2193728" y="33461"/>
                    </a:cubicBezTo>
                    <a:lnTo>
                      <a:pt x="2193728" y="67556"/>
                    </a:lnTo>
                    <a:cubicBezTo>
                      <a:pt x="2193728" y="76430"/>
                      <a:pt x="2190202" y="84941"/>
                      <a:pt x="2183927" y="91217"/>
                    </a:cubicBezTo>
                    <a:cubicBezTo>
                      <a:pt x="2177652" y="97492"/>
                      <a:pt x="2169141" y="101017"/>
                      <a:pt x="2160266" y="101017"/>
                    </a:cubicBezTo>
                    <a:lnTo>
                      <a:pt x="33461" y="101017"/>
                    </a:lnTo>
                    <a:cubicBezTo>
                      <a:pt x="24587" y="101017"/>
                      <a:pt x="16076" y="97492"/>
                      <a:pt x="9801" y="91217"/>
                    </a:cubicBezTo>
                    <a:cubicBezTo>
                      <a:pt x="3525" y="84941"/>
                      <a:pt x="0" y="76430"/>
                      <a:pt x="0" y="67556"/>
                    </a:cubicBezTo>
                    <a:lnTo>
                      <a:pt x="0" y="33461"/>
                    </a:lnTo>
                    <a:cubicBezTo>
                      <a:pt x="0" y="24587"/>
                      <a:pt x="3525" y="16076"/>
                      <a:pt x="9801" y="9801"/>
                    </a:cubicBezTo>
                    <a:cubicBezTo>
                      <a:pt x="16076" y="3525"/>
                      <a:pt x="24587" y="0"/>
                      <a:pt x="33461" y="0"/>
                    </a:cubicBez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2193728" cy="129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206545"/>
              <a:ext cx="11105746" cy="304855"/>
              <a:chOff x="0" y="0"/>
              <a:chExt cx="2193728" cy="6021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3728" cy="60218"/>
              </a:xfrm>
              <a:custGeom>
                <a:avLst/>
                <a:gdLst/>
                <a:ahLst/>
                <a:cxnLst/>
                <a:rect r="r" b="b" t="t" l="l"/>
                <a:pathLst>
                  <a:path h="60218" w="2193728">
                    <a:moveTo>
                      <a:pt x="0" y="0"/>
                    </a:moveTo>
                    <a:lnTo>
                      <a:pt x="2193728" y="0"/>
                    </a:lnTo>
                    <a:lnTo>
                      <a:pt x="2193728" y="60218"/>
                    </a:lnTo>
                    <a:lnTo>
                      <a:pt x="0" y="60218"/>
                    </a:ln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193728" cy="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9350157" y="3306709"/>
            <a:ext cx="8329309" cy="3215334"/>
            <a:chOff x="0" y="0"/>
            <a:chExt cx="11105746" cy="428711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1105746" cy="4287112"/>
              <a:chOff x="0" y="0"/>
              <a:chExt cx="2193728" cy="84683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93728" cy="846837"/>
              </a:xfrm>
              <a:custGeom>
                <a:avLst/>
                <a:gdLst/>
                <a:ahLst/>
                <a:cxnLst/>
                <a:rect r="r" b="b" t="t" l="l"/>
                <a:pathLst>
                  <a:path h="846837" w="2193728">
                    <a:moveTo>
                      <a:pt x="32532" y="0"/>
                    </a:moveTo>
                    <a:lnTo>
                      <a:pt x="2161196" y="0"/>
                    </a:lnTo>
                    <a:cubicBezTo>
                      <a:pt x="2179163" y="0"/>
                      <a:pt x="2193728" y="14565"/>
                      <a:pt x="2193728" y="32532"/>
                    </a:cubicBezTo>
                    <a:lnTo>
                      <a:pt x="2193728" y="814305"/>
                    </a:lnTo>
                    <a:cubicBezTo>
                      <a:pt x="2193728" y="822933"/>
                      <a:pt x="2190300" y="831208"/>
                      <a:pt x="2184199" y="837309"/>
                    </a:cubicBezTo>
                    <a:cubicBezTo>
                      <a:pt x="2178098" y="843410"/>
                      <a:pt x="2169824" y="846837"/>
                      <a:pt x="2161196" y="846837"/>
                    </a:cubicBezTo>
                    <a:lnTo>
                      <a:pt x="32532" y="846837"/>
                    </a:lnTo>
                    <a:cubicBezTo>
                      <a:pt x="23904" y="846837"/>
                      <a:pt x="15629" y="843410"/>
                      <a:pt x="9528" y="837309"/>
                    </a:cubicBezTo>
                    <a:cubicBezTo>
                      <a:pt x="3427" y="831208"/>
                      <a:pt x="0" y="822933"/>
                      <a:pt x="0" y="814305"/>
                    </a:cubicBezTo>
                    <a:lnTo>
                      <a:pt x="0" y="32532"/>
                    </a:lnTo>
                    <a:cubicBezTo>
                      <a:pt x="0" y="23904"/>
                      <a:pt x="3427" y="15629"/>
                      <a:pt x="9528" y="9528"/>
                    </a:cubicBezTo>
                    <a:cubicBezTo>
                      <a:pt x="15629" y="3427"/>
                      <a:pt x="23904" y="0"/>
                      <a:pt x="32532" y="0"/>
                    </a:cubicBezTo>
                    <a:close/>
                  </a:path>
                </a:pathLst>
              </a:custGeom>
              <a:solidFill>
                <a:srgbClr val="96A1D9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2193728" cy="875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11105746" cy="511400"/>
              <a:chOff x="0" y="0"/>
              <a:chExt cx="2193728" cy="1010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193728" cy="101017"/>
              </a:xfrm>
              <a:custGeom>
                <a:avLst/>
                <a:gdLst/>
                <a:ahLst/>
                <a:cxnLst/>
                <a:rect r="r" b="b" t="t" l="l"/>
                <a:pathLst>
                  <a:path h="101017" w="2193728">
                    <a:moveTo>
                      <a:pt x="33461" y="0"/>
                    </a:moveTo>
                    <a:lnTo>
                      <a:pt x="2160266" y="0"/>
                    </a:lnTo>
                    <a:cubicBezTo>
                      <a:pt x="2178746" y="0"/>
                      <a:pt x="2193728" y="14981"/>
                      <a:pt x="2193728" y="33461"/>
                    </a:cubicBezTo>
                    <a:lnTo>
                      <a:pt x="2193728" y="67556"/>
                    </a:lnTo>
                    <a:cubicBezTo>
                      <a:pt x="2193728" y="76430"/>
                      <a:pt x="2190202" y="84941"/>
                      <a:pt x="2183927" y="91217"/>
                    </a:cubicBezTo>
                    <a:cubicBezTo>
                      <a:pt x="2177652" y="97492"/>
                      <a:pt x="2169141" y="101017"/>
                      <a:pt x="2160266" y="101017"/>
                    </a:cubicBezTo>
                    <a:lnTo>
                      <a:pt x="33461" y="101017"/>
                    </a:lnTo>
                    <a:cubicBezTo>
                      <a:pt x="24587" y="101017"/>
                      <a:pt x="16076" y="97492"/>
                      <a:pt x="9801" y="91217"/>
                    </a:cubicBezTo>
                    <a:cubicBezTo>
                      <a:pt x="3525" y="84941"/>
                      <a:pt x="0" y="76430"/>
                      <a:pt x="0" y="67556"/>
                    </a:cubicBezTo>
                    <a:lnTo>
                      <a:pt x="0" y="33461"/>
                    </a:lnTo>
                    <a:cubicBezTo>
                      <a:pt x="0" y="24587"/>
                      <a:pt x="3525" y="16076"/>
                      <a:pt x="9801" y="9801"/>
                    </a:cubicBezTo>
                    <a:cubicBezTo>
                      <a:pt x="16076" y="3525"/>
                      <a:pt x="24587" y="0"/>
                      <a:pt x="33461" y="0"/>
                    </a:cubicBez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2193728" cy="129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206545"/>
              <a:ext cx="11105746" cy="304855"/>
              <a:chOff x="0" y="0"/>
              <a:chExt cx="2193728" cy="6021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93728" cy="60218"/>
              </a:xfrm>
              <a:custGeom>
                <a:avLst/>
                <a:gdLst/>
                <a:ahLst/>
                <a:cxnLst/>
                <a:rect r="r" b="b" t="t" l="l"/>
                <a:pathLst>
                  <a:path h="60218" w="2193728">
                    <a:moveTo>
                      <a:pt x="0" y="0"/>
                    </a:moveTo>
                    <a:lnTo>
                      <a:pt x="2193728" y="0"/>
                    </a:lnTo>
                    <a:lnTo>
                      <a:pt x="2193728" y="60218"/>
                    </a:lnTo>
                    <a:lnTo>
                      <a:pt x="0" y="60218"/>
                    </a:ln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2193728" cy="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9350157" y="6874090"/>
            <a:ext cx="8329309" cy="3215334"/>
            <a:chOff x="0" y="0"/>
            <a:chExt cx="11105746" cy="4287112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1105746" cy="4287112"/>
              <a:chOff x="0" y="0"/>
              <a:chExt cx="2193728" cy="846837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193728" cy="846837"/>
              </a:xfrm>
              <a:custGeom>
                <a:avLst/>
                <a:gdLst/>
                <a:ahLst/>
                <a:cxnLst/>
                <a:rect r="r" b="b" t="t" l="l"/>
                <a:pathLst>
                  <a:path h="846837" w="2193728">
                    <a:moveTo>
                      <a:pt x="32532" y="0"/>
                    </a:moveTo>
                    <a:lnTo>
                      <a:pt x="2161196" y="0"/>
                    </a:lnTo>
                    <a:cubicBezTo>
                      <a:pt x="2179163" y="0"/>
                      <a:pt x="2193728" y="14565"/>
                      <a:pt x="2193728" y="32532"/>
                    </a:cubicBezTo>
                    <a:lnTo>
                      <a:pt x="2193728" y="814305"/>
                    </a:lnTo>
                    <a:cubicBezTo>
                      <a:pt x="2193728" y="822933"/>
                      <a:pt x="2190300" y="831208"/>
                      <a:pt x="2184199" y="837309"/>
                    </a:cubicBezTo>
                    <a:cubicBezTo>
                      <a:pt x="2178098" y="843410"/>
                      <a:pt x="2169824" y="846837"/>
                      <a:pt x="2161196" y="846837"/>
                    </a:cubicBezTo>
                    <a:lnTo>
                      <a:pt x="32532" y="846837"/>
                    </a:lnTo>
                    <a:cubicBezTo>
                      <a:pt x="23904" y="846837"/>
                      <a:pt x="15629" y="843410"/>
                      <a:pt x="9528" y="837309"/>
                    </a:cubicBezTo>
                    <a:cubicBezTo>
                      <a:pt x="3427" y="831208"/>
                      <a:pt x="0" y="822933"/>
                      <a:pt x="0" y="814305"/>
                    </a:cubicBezTo>
                    <a:lnTo>
                      <a:pt x="0" y="32532"/>
                    </a:lnTo>
                    <a:cubicBezTo>
                      <a:pt x="0" y="23904"/>
                      <a:pt x="3427" y="15629"/>
                      <a:pt x="9528" y="9528"/>
                    </a:cubicBezTo>
                    <a:cubicBezTo>
                      <a:pt x="15629" y="3427"/>
                      <a:pt x="23904" y="0"/>
                      <a:pt x="32532" y="0"/>
                    </a:cubicBezTo>
                    <a:close/>
                  </a:path>
                </a:pathLst>
              </a:custGeom>
              <a:solidFill>
                <a:srgbClr val="96A1D9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28575"/>
                <a:ext cx="2193728" cy="8754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0"/>
              <a:ext cx="11105746" cy="511400"/>
              <a:chOff x="0" y="0"/>
              <a:chExt cx="2193728" cy="101017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193728" cy="101017"/>
              </a:xfrm>
              <a:custGeom>
                <a:avLst/>
                <a:gdLst/>
                <a:ahLst/>
                <a:cxnLst/>
                <a:rect r="r" b="b" t="t" l="l"/>
                <a:pathLst>
                  <a:path h="101017" w="2193728">
                    <a:moveTo>
                      <a:pt x="33461" y="0"/>
                    </a:moveTo>
                    <a:lnTo>
                      <a:pt x="2160266" y="0"/>
                    </a:lnTo>
                    <a:cubicBezTo>
                      <a:pt x="2178746" y="0"/>
                      <a:pt x="2193728" y="14981"/>
                      <a:pt x="2193728" y="33461"/>
                    </a:cubicBezTo>
                    <a:lnTo>
                      <a:pt x="2193728" y="67556"/>
                    </a:lnTo>
                    <a:cubicBezTo>
                      <a:pt x="2193728" y="76430"/>
                      <a:pt x="2190202" y="84941"/>
                      <a:pt x="2183927" y="91217"/>
                    </a:cubicBezTo>
                    <a:cubicBezTo>
                      <a:pt x="2177652" y="97492"/>
                      <a:pt x="2169141" y="101017"/>
                      <a:pt x="2160266" y="101017"/>
                    </a:cubicBezTo>
                    <a:lnTo>
                      <a:pt x="33461" y="101017"/>
                    </a:lnTo>
                    <a:cubicBezTo>
                      <a:pt x="24587" y="101017"/>
                      <a:pt x="16076" y="97492"/>
                      <a:pt x="9801" y="91217"/>
                    </a:cubicBezTo>
                    <a:cubicBezTo>
                      <a:pt x="3525" y="84941"/>
                      <a:pt x="0" y="76430"/>
                      <a:pt x="0" y="67556"/>
                    </a:cubicBezTo>
                    <a:lnTo>
                      <a:pt x="0" y="33461"/>
                    </a:lnTo>
                    <a:cubicBezTo>
                      <a:pt x="0" y="24587"/>
                      <a:pt x="3525" y="16076"/>
                      <a:pt x="9801" y="9801"/>
                    </a:cubicBezTo>
                    <a:cubicBezTo>
                      <a:pt x="16076" y="3525"/>
                      <a:pt x="24587" y="0"/>
                      <a:pt x="33461" y="0"/>
                    </a:cubicBez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28575"/>
                <a:ext cx="2193728" cy="129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206545"/>
              <a:ext cx="11105746" cy="304855"/>
              <a:chOff x="0" y="0"/>
              <a:chExt cx="2193728" cy="60218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193728" cy="60218"/>
              </a:xfrm>
              <a:custGeom>
                <a:avLst/>
                <a:gdLst/>
                <a:ahLst/>
                <a:cxnLst/>
                <a:rect r="r" b="b" t="t" l="l"/>
                <a:pathLst>
                  <a:path h="60218" w="2193728">
                    <a:moveTo>
                      <a:pt x="0" y="0"/>
                    </a:moveTo>
                    <a:lnTo>
                      <a:pt x="2193728" y="0"/>
                    </a:lnTo>
                    <a:lnTo>
                      <a:pt x="2193728" y="60218"/>
                    </a:lnTo>
                    <a:lnTo>
                      <a:pt x="0" y="60218"/>
                    </a:ln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28575"/>
                <a:ext cx="2193728" cy="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sp>
        <p:nvSpPr>
          <p:cNvPr name="TextBox 47" id="47"/>
          <p:cNvSpPr txBox="true"/>
          <p:nvPr/>
        </p:nvSpPr>
        <p:spPr>
          <a:xfrm rot="0">
            <a:off x="558310" y="3911157"/>
            <a:ext cx="8131635" cy="230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0"/>
              </a:lnSpc>
              <a:spcBef>
                <a:spcPct val="0"/>
              </a:spcBef>
            </a:pPr>
            <a:r>
              <a:rPr lang="en-US" b="true" sz="3978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RIGHTS NAVIGATOR</a:t>
            </a:r>
          </a:p>
          <a:p>
            <a:pPr algn="l">
              <a:lnSpc>
                <a:spcPts val="3156"/>
              </a:lnSpc>
              <a:spcBef>
                <a:spcPct val="0"/>
              </a:spcBef>
            </a:pPr>
            <a:r>
              <a:rPr lang="en-US" b="true" sz="2254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Input:</a:t>
            </a:r>
            <a:r>
              <a:rPr lang="en-US" sz="2254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Dispute context (tenant, consumer, workplace, civic)</a:t>
            </a:r>
          </a:p>
          <a:p>
            <a:pPr algn="l">
              <a:lnSpc>
                <a:spcPts val="3156"/>
              </a:lnSpc>
              <a:spcBef>
                <a:spcPct val="0"/>
              </a:spcBef>
            </a:pPr>
            <a:r>
              <a:rPr lang="en-US" b="true" sz="2254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Output:</a:t>
            </a:r>
            <a:r>
              <a:rPr lang="en-US" sz="2254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Actionable procedural pathways and jurisdiction-specific timeline roadmaps with applicable statutes identified.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177837" y="3516259"/>
            <a:ext cx="6673949" cy="298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  <a:spcBef>
                <a:spcPct val="0"/>
              </a:spcBef>
            </a:pPr>
            <a:r>
              <a:rPr lang="en-US" b="true" sz="2011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</a:p>
          <a:p>
            <a:pPr algn="ctr">
              <a:lnSpc>
                <a:spcPts val="5602"/>
              </a:lnSpc>
              <a:spcBef>
                <a:spcPct val="0"/>
              </a:spcBef>
            </a:pPr>
            <a:r>
              <a:rPr lang="en-US" b="true" sz="4001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RTI DRAFTER</a:t>
            </a:r>
          </a:p>
          <a:p>
            <a:pPr algn="just">
              <a:lnSpc>
                <a:spcPts val="3167"/>
              </a:lnSpc>
              <a:spcBef>
                <a:spcPct val="0"/>
              </a:spcBef>
            </a:pPr>
            <a:r>
              <a:rPr lang="en-US" b="true" sz="2262" spc="11">
                <a:solidFill>
                  <a:srgbClr val="01011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Input:</a:t>
            </a:r>
            <a:r>
              <a:rPr lang="en-US" sz="2262" spc="11">
                <a:solidFill>
                  <a:srgbClr val="010115"/>
                </a:solidFill>
                <a:latin typeface="Canva Sans 1"/>
                <a:ea typeface="Canva Sans 1"/>
                <a:cs typeface="Canva Sans 1"/>
                <a:sym typeface="Canva Sans 1"/>
              </a:rPr>
              <a:t> Raw citizen question or information need</a:t>
            </a:r>
          </a:p>
          <a:p>
            <a:pPr algn="just">
              <a:lnSpc>
                <a:spcPts val="3167"/>
              </a:lnSpc>
              <a:spcBef>
                <a:spcPct val="0"/>
              </a:spcBef>
            </a:pPr>
            <a:r>
              <a:rPr lang="en-US" b="true" sz="2262" spc="11">
                <a:solidFill>
                  <a:srgbClr val="01011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Output:</a:t>
            </a:r>
            <a:r>
              <a:rPr lang="en-US" sz="2262" spc="11">
                <a:solidFill>
                  <a:srgbClr val="010115"/>
                </a:solidFill>
                <a:latin typeface="Canva Sans 1"/>
                <a:ea typeface="Canva Sans 1"/>
                <a:cs typeface="Canva Sans 1"/>
                <a:sym typeface="Canva Sans 1"/>
              </a:rPr>
              <a:t> Section 6(1)-compliant RTI application with designated Public Information Officer (PIO) mapping and correct department routing.</a:t>
            </a:r>
          </a:p>
          <a:p>
            <a:pPr algn="ctr">
              <a:lnSpc>
                <a:spcPts val="2815"/>
              </a:lnSpc>
              <a:spcBef>
                <a:spcPct val="0"/>
              </a:spcBef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767232" y="7585075"/>
            <a:ext cx="8021550" cy="182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5"/>
              </a:lnSpc>
              <a:spcBef>
                <a:spcPct val="0"/>
              </a:spcBef>
            </a:pPr>
            <a:r>
              <a:rPr lang="en-US" b="true" sz="4117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ELIGIBILITY MATCHER</a:t>
            </a:r>
          </a:p>
          <a:p>
            <a:pPr algn="l">
              <a:lnSpc>
                <a:spcPts val="2974"/>
              </a:lnSpc>
              <a:spcBef>
                <a:spcPct val="0"/>
              </a:spcBef>
            </a:pPr>
            <a:r>
              <a:rPr lang="en-US" b="true" sz="2124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Input:</a:t>
            </a:r>
            <a:r>
              <a:rPr lang="en-US" sz="2124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User demographic criteria (income, location, category)</a:t>
            </a:r>
          </a:p>
          <a:p>
            <a:pPr algn="l">
              <a:lnSpc>
                <a:spcPts val="2974"/>
              </a:lnSpc>
              <a:spcBef>
                <a:spcPct val="0"/>
              </a:spcBef>
            </a:pPr>
            <a:r>
              <a:rPr lang="en-US" b="true" sz="2124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Output: </a:t>
            </a:r>
            <a:r>
              <a:rPr lang="en-US" sz="2124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Personalized checklist of qualifying welfare schemes with required documents and application portals.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50587" y="7575550"/>
            <a:ext cx="7952874" cy="181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5"/>
              </a:lnSpc>
              <a:spcBef>
                <a:spcPct val="0"/>
              </a:spcBef>
            </a:pPr>
            <a:r>
              <a:rPr lang="en-US" b="true" sz="3832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CONVERSATIONAL FORM-FILLER</a:t>
            </a:r>
          </a:p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b="true" sz="21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Input:</a:t>
            </a:r>
            <a:r>
              <a:rPr lang="en-US" sz="218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 Multi-turn interview capturing required data slots</a:t>
            </a:r>
          </a:p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b="true" sz="218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Output: </a:t>
            </a:r>
            <a:r>
              <a:rPr lang="en-US" sz="218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Downloadable pre-filled PDF and application drafts ready for submission to the relevant authority.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59600" y="2869775"/>
            <a:ext cx="4860619" cy="2500296"/>
            <a:chOff x="0" y="0"/>
            <a:chExt cx="6480825" cy="333372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480825" cy="3333728"/>
              <a:chOff x="0" y="0"/>
              <a:chExt cx="2194149" cy="11286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94149" cy="1128667"/>
              </a:xfrm>
              <a:custGeom>
                <a:avLst/>
                <a:gdLst/>
                <a:ahLst/>
                <a:cxnLst/>
                <a:rect r="r" b="b" t="t" l="l"/>
                <a:pathLst>
                  <a:path h="1128667" w="2194149">
                    <a:moveTo>
                      <a:pt x="48668" y="0"/>
                    </a:moveTo>
                    <a:lnTo>
                      <a:pt x="2145480" y="0"/>
                    </a:lnTo>
                    <a:cubicBezTo>
                      <a:pt x="2158388" y="0"/>
                      <a:pt x="2170767" y="5128"/>
                      <a:pt x="2179894" y="14255"/>
                    </a:cubicBezTo>
                    <a:cubicBezTo>
                      <a:pt x="2189021" y="23382"/>
                      <a:pt x="2194149" y="35761"/>
                      <a:pt x="2194149" y="48668"/>
                    </a:cubicBezTo>
                    <a:lnTo>
                      <a:pt x="2194149" y="1079999"/>
                    </a:lnTo>
                    <a:cubicBezTo>
                      <a:pt x="2194149" y="1092907"/>
                      <a:pt x="2189021" y="1105286"/>
                      <a:pt x="2179894" y="1114413"/>
                    </a:cubicBezTo>
                    <a:cubicBezTo>
                      <a:pt x="2170767" y="1123540"/>
                      <a:pt x="2158388" y="1128667"/>
                      <a:pt x="2145480" y="1128667"/>
                    </a:cubicBezTo>
                    <a:lnTo>
                      <a:pt x="48668" y="1128667"/>
                    </a:lnTo>
                    <a:cubicBezTo>
                      <a:pt x="35761" y="1128667"/>
                      <a:pt x="23382" y="1123540"/>
                      <a:pt x="14255" y="1114413"/>
                    </a:cubicBezTo>
                    <a:cubicBezTo>
                      <a:pt x="5128" y="1105286"/>
                      <a:pt x="0" y="1092907"/>
                      <a:pt x="0" y="1079999"/>
                    </a:cubicBezTo>
                    <a:lnTo>
                      <a:pt x="0" y="48668"/>
                    </a:lnTo>
                    <a:cubicBezTo>
                      <a:pt x="0" y="35761"/>
                      <a:pt x="5128" y="23382"/>
                      <a:pt x="14255" y="14255"/>
                    </a:cubicBezTo>
                    <a:cubicBezTo>
                      <a:pt x="23382" y="5128"/>
                      <a:pt x="35761" y="0"/>
                      <a:pt x="48668" y="0"/>
                    </a:cubicBezTo>
                    <a:close/>
                  </a:path>
                </a:pathLst>
              </a:custGeom>
              <a:solidFill>
                <a:srgbClr val="96A1D9"/>
              </a:solidFill>
              <a:ln w="19050" cap="rnd">
                <a:solidFill>
                  <a:srgbClr val="04137A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194149" cy="1157242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6480825" cy="280391"/>
              <a:chOff x="0" y="0"/>
              <a:chExt cx="2194149" cy="9492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94149" cy="94929"/>
              </a:xfrm>
              <a:custGeom>
                <a:avLst/>
                <a:gdLst/>
                <a:ahLst/>
                <a:cxnLst/>
                <a:rect r="r" b="b" t="t" l="l"/>
                <a:pathLst>
                  <a:path h="94929" w="2194149">
                    <a:moveTo>
                      <a:pt x="47465" y="0"/>
                    </a:moveTo>
                    <a:lnTo>
                      <a:pt x="2146684" y="0"/>
                    </a:lnTo>
                    <a:cubicBezTo>
                      <a:pt x="2172898" y="0"/>
                      <a:pt x="2194149" y="21251"/>
                      <a:pt x="2194149" y="47465"/>
                    </a:cubicBezTo>
                    <a:lnTo>
                      <a:pt x="2194149" y="47465"/>
                    </a:lnTo>
                    <a:cubicBezTo>
                      <a:pt x="2194149" y="60053"/>
                      <a:pt x="2189148" y="72126"/>
                      <a:pt x="2180247" y="81027"/>
                    </a:cubicBezTo>
                    <a:cubicBezTo>
                      <a:pt x="2171345" y="89929"/>
                      <a:pt x="2159273" y="94929"/>
                      <a:pt x="2146684" y="94929"/>
                    </a:cubicBezTo>
                    <a:lnTo>
                      <a:pt x="47465" y="94929"/>
                    </a:lnTo>
                    <a:cubicBezTo>
                      <a:pt x="21251" y="94929"/>
                      <a:pt x="0" y="73679"/>
                      <a:pt x="0" y="47465"/>
                    </a:cubicBezTo>
                    <a:lnTo>
                      <a:pt x="0" y="47465"/>
                    </a:lnTo>
                    <a:cubicBezTo>
                      <a:pt x="0" y="21251"/>
                      <a:pt x="21251" y="0"/>
                      <a:pt x="47465" y="0"/>
                    </a:cubicBezTo>
                    <a:close/>
                  </a:path>
                </a:pathLst>
              </a:custGeom>
              <a:solidFill>
                <a:srgbClr val="070241"/>
              </a:solidFill>
              <a:ln w="19050" cap="rnd">
                <a:solidFill>
                  <a:srgbClr val="04137A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194149" cy="123504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13245"/>
              <a:ext cx="6480825" cy="167146"/>
              <a:chOff x="0" y="0"/>
              <a:chExt cx="2194149" cy="5658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94149" cy="56589"/>
              </a:xfrm>
              <a:custGeom>
                <a:avLst/>
                <a:gdLst/>
                <a:ahLst/>
                <a:cxnLst/>
                <a:rect r="r" b="b" t="t" l="l"/>
                <a:pathLst>
                  <a:path h="56589" w="2194149">
                    <a:moveTo>
                      <a:pt x="0" y="0"/>
                    </a:moveTo>
                    <a:lnTo>
                      <a:pt x="2194149" y="0"/>
                    </a:lnTo>
                    <a:lnTo>
                      <a:pt x="2194149" y="56589"/>
                    </a:lnTo>
                    <a:lnTo>
                      <a:pt x="0" y="56589"/>
                    </a:lnTo>
                    <a:close/>
                  </a:path>
                </a:pathLst>
              </a:custGeom>
              <a:solidFill>
                <a:srgbClr val="070241"/>
              </a:solidFill>
              <a:ln w="19050" cap="sq">
                <a:solidFill>
                  <a:srgbClr val="04137A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2194149" cy="85164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2783208" y="4226595"/>
            <a:ext cx="4818282" cy="2478518"/>
            <a:chOff x="0" y="0"/>
            <a:chExt cx="6424376" cy="330469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424376" cy="3304690"/>
              <a:chOff x="0" y="0"/>
              <a:chExt cx="2194149" cy="112866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94149" cy="1128667"/>
              </a:xfrm>
              <a:custGeom>
                <a:avLst/>
                <a:gdLst/>
                <a:ahLst/>
                <a:cxnLst/>
                <a:rect r="r" b="b" t="t" l="l"/>
                <a:pathLst>
                  <a:path h="1128667" w="2194149">
                    <a:moveTo>
                      <a:pt x="48668" y="0"/>
                    </a:moveTo>
                    <a:lnTo>
                      <a:pt x="2145480" y="0"/>
                    </a:lnTo>
                    <a:cubicBezTo>
                      <a:pt x="2158388" y="0"/>
                      <a:pt x="2170767" y="5128"/>
                      <a:pt x="2179894" y="14255"/>
                    </a:cubicBezTo>
                    <a:cubicBezTo>
                      <a:pt x="2189021" y="23382"/>
                      <a:pt x="2194149" y="35761"/>
                      <a:pt x="2194149" y="48668"/>
                    </a:cubicBezTo>
                    <a:lnTo>
                      <a:pt x="2194149" y="1079999"/>
                    </a:lnTo>
                    <a:cubicBezTo>
                      <a:pt x="2194149" y="1092907"/>
                      <a:pt x="2189021" y="1105286"/>
                      <a:pt x="2179894" y="1114413"/>
                    </a:cubicBezTo>
                    <a:cubicBezTo>
                      <a:pt x="2170767" y="1123540"/>
                      <a:pt x="2158388" y="1128667"/>
                      <a:pt x="2145480" y="1128667"/>
                    </a:cubicBezTo>
                    <a:lnTo>
                      <a:pt x="48668" y="1128667"/>
                    </a:lnTo>
                    <a:cubicBezTo>
                      <a:pt x="35761" y="1128667"/>
                      <a:pt x="23382" y="1123540"/>
                      <a:pt x="14255" y="1114413"/>
                    </a:cubicBezTo>
                    <a:cubicBezTo>
                      <a:pt x="5128" y="1105286"/>
                      <a:pt x="0" y="1092907"/>
                      <a:pt x="0" y="1079999"/>
                    </a:cubicBezTo>
                    <a:lnTo>
                      <a:pt x="0" y="48668"/>
                    </a:lnTo>
                    <a:cubicBezTo>
                      <a:pt x="0" y="35761"/>
                      <a:pt x="5128" y="23382"/>
                      <a:pt x="14255" y="14255"/>
                    </a:cubicBezTo>
                    <a:cubicBezTo>
                      <a:pt x="23382" y="5128"/>
                      <a:pt x="35761" y="0"/>
                      <a:pt x="48668" y="0"/>
                    </a:cubicBezTo>
                    <a:close/>
                  </a:path>
                </a:pathLst>
              </a:custGeom>
              <a:solidFill>
                <a:srgbClr val="96A1D9"/>
              </a:solidFill>
              <a:ln w="19050" cap="rnd">
                <a:solidFill>
                  <a:srgbClr val="04137A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2194149" cy="1157242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6424376" cy="277949"/>
              <a:chOff x="0" y="0"/>
              <a:chExt cx="2194149" cy="9492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94149" cy="94929"/>
              </a:xfrm>
              <a:custGeom>
                <a:avLst/>
                <a:gdLst/>
                <a:ahLst/>
                <a:cxnLst/>
                <a:rect r="r" b="b" t="t" l="l"/>
                <a:pathLst>
                  <a:path h="94929" w="2194149">
                    <a:moveTo>
                      <a:pt x="47465" y="0"/>
                    </a:moveTo>
                    <a:lnTo>
                      <a:pt x="2146684" y="0"/>
                    </a:lnTo>
                    <a:cubicBezTo>
                      <a:pt x="2172898" y="0"/>
                      <a:pt x="2194149" y="21251"/>
                      <a:pt x="2194149" y="47465"/>
                    </a:cubicBezTo>
                    <a:lnTo>
                      <a:pt x="2194149" y="47465"/>
                    </a:lnTo>
                    <a:cubicBezTo>
                      <a:pt x="2194149" y="60053"/>
                      <a:pt x="2189148" y="72126"/>
                      <a:pt x="2180247" y="81027"/>
                    </a:cubicBezTo>
                    <a:cubicBezTo>
                      <a:pt x="2171345" y="89929"/>
                      <a:pt x="2159273" y="94929"/>
                      <a:pt x="2146684" y="94929"/>
                    </a:cubicBezTo>
                    <a:lnTo>
                      <a:pt x="47465" y="94929"/>
                    </a:lnTo>
                    <a:cubicBezTo>
                      <a:pt x="21251" y="94929"/>
                      <a:pt x="0" y="73679"/>
                      <a:pt x="0" y="47465"/>
                    </a:cubicBezTo>
                    <a:lnTo>
                      <a:pt x="0" y="47465"/>
                    </a:lnTo>
                    <a:cubicBezTo>
                      <a:pt x="0" y="21251"/>
                      <a:pt x="21251" y="0"/>
                      <a:pt x="47465" y="0"/>
                    </a:cubicBezTo>
                    <a:close/>
                  </a:path>
                </a:pathLst>
              </a:custGeom>
              <a:solidFill>
                <a:srgbClr val="070241"/>
              </a:solidFill>
              <a:ln w="19050" cap="rnd">
                <a:solidFill>
                  <a:srgbClr val="04137A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2194149" cy="123504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112259"/>
              <a:ext cx="6424376" cy="165691"/>
              <a:chOff x="0" y="0"/>
              <a:chExt cx="2194149" cy="5658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94149" cy="56589"/>
              </a:xfrm>
              <a:custGeom>
                <a:avLst/>
                <a:gdLst/>
                <a:ahLst/>
                <a:cxnLst/>
                <a:rect r="r" b="b" t="t" l="l"/>
                <a:pathLst>
                  <a:path h="56589" w="2194149">
                    <a:moveTo>
                      <a:pt x="0" y="0"/>
                    </a:moveTo>
                    <a:lnTo>
                      <a:pt x="2194149" y="0"/>
                    </a:lnTo>
                    <a:lnTo>
                      <a:pt x="2194149" y="56589"/>
                    </a:lnTo>
                    <a:lnTo>
                      <a:pt x="0" y="56589"/>
                    </a:lnTo>
                    <a:close/>
                  </a:path>
                </a:pathLst>
              </a:custGeom>
              <a:solidFill>
                <a:srgbClr val="070241"/>
              </a:solidFill>
              <a:ln w="19050" cap="sq">
                <a:solidFill>
                  <a:srgbClr val="04137A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2194149" cy="85164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7659600" y="6017118"/>
            <a:ext cx="4860619" cy="2500296"/>
            <a:chOff x="0" y="0"/>
            <a:chExt cx="6480825" cy="333372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480825" cy="3333728"/>
              <a:chOff x="0" y="0"/>
              <a:chExt cx="2194149" cy="112866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94149" cy="1128667"/>
              </a:xfrm>
              <a:custGeom>
                <a:avLst/>
                <a:gdLst/>
                <a:ahLst/>
                <a:cxnLst/>
                <a:rect r="r" b="b" t="t" l="l"/>
                <a:pathLst>
                  <a:path h="1128667" w="2194149">
                    <a:moveTo>
                      <a:pt x="48668" y="0"/>
                    </a:moveTo>
                    <a:lnTo>
                      <a:pt x="2145480" y="0"/>
                    </a:lnTo>
                    <a:cubicBezTo>
                      <a:pt x="2158388" y="0"/>
                      <a:pt x="2170767" y="5128"/>
                      <a:pt x="2179894" y="14255"/>
                    </a:cubicBezTo>
                    <a:cubicBezTo>
                      <a:pt x="2189021" y="23382"/>
                      <a:pt x="2194149" y="35761"/>
                      <a:pt x="2194149" y="48668"/>
                    </a:cubicBezTo>
                    <a:lnTo>
                      <a:pt x="2194149" y="1079999"/>
                    </a:lnTo>
                    <a:cubicBezTo>
                      <a:pt x="2194149" y="1092907"/>
                      <a:pt x="2189021" y="1105286"/>
                      <a:pt x="2179894" y="1114413"/>
                    </a:cubicBezTo>
                    <a:cubicBezTo>
                      <a:pt x="2170767" y="1123540"/>
                      <a:pt x="2158388" y="1128667"/>
                      <a:pt x="2145480" y="1128667"/>
                    </a:cubicBezTo>
                    <a:lnTo>
                      <a:pt x="48668" y="1128667"/>
                    </a:lnTo>
                    <a:cubicBezTo>
                      <a:pt x="35761" y="1128667"/>
                      <a:pt x="23382" y="1123540"/>
                      <a:pt x="14255" y="1114413"/>
                    </a:cubicBezTo>
                    <a:cubicBezTo>
                      <a:pt x="5128" y="1105286"/>
                      <a:pt x="0" y="1092907"/>
                      <a:pt x="0" y="1079999"/>
                    </a:cubicBezTo>
                    <a:lnTo>
                      <a:pt x="0" y="48668"/>
                    </a:lnTo>
                    <a:cubicBezTo>
                      <a:pt x="0" y="35761"/>
                      <a:pt x="5128" y="23382"/>
                      <a:pt x="14255" y="14255"/>
                    </a:cubicBezTo>
                    <a:cubicBezTo>
                      <a:pt x="23382" y="5128"/>
                      <a:pt x="35761" y="0"/>
                      <a:pt x="48668" y="0"/>
                    </a:cubicBezTo>
                    <a:close/>
                  </a:path>
                </a:pathLst>
              </a:custGeom>
              <a:solidFill>
                <a:srgbClr val="96A1D9"/>
              </a:solidFill>
              <a:ln w="19050" cap="rnd">
                <a:solidFill>
                  <a:srgbClr val="04137A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2194149" cy="1157242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6480825" cy="280391"/>
              <a:chOff x="0" y="0"/>
              <a:chExt cx="2194149" cy="9492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94149" cy="94929"/>
              </a:xfrm>
              <a:custGeom>
                <a:avLst/>
                <a:gdLst/>
                <a:ahLst/>
                <a:cxnLst/>
                <a:rect r="r" b="b" t="t" l="l"/>
                <a:pathLst>
                  <a:path h="94929" w="2194149">
                    <a:moveTo>
                      <a:pt x="47465" y="0"/>
                    </a:moveTo>
                    <a:lnTo>
                      <a:pt x="2146684" y="0"/>
                    </a:lnTo>
                    <a:cubicBezTo>
                      <a:pt x="2172898" y="0"/>
                      <a:pt x="2194149" y="21251"/>
                      <a:pt x="2194149" y="47465"/>
                    </a:cubicBezTo>
                    <a:lnTo>
                      <a:pt x="2194149" y="47465"/>
                    </a:lnTo>
                    <a:cubicBezTo>
                      <a:pt x="2194149" y="60053"/>
                      <a:pt x="2189148" y="72126"/>
                      <a:pt x="2180247" y="81027"/>
                    </a:cubicBezTo>
                    <a:cubicBezTo>
                      <a:pt x="2171345" y="89929"/>
                      <a:pt x="2159273" y="94929"/>
                      <a:pt x="2146684" y="94929"/>
                    </a:cubicBezTo>
                    <a:lnTo>
                      <a:pt x="47465" y="94929"/>
                    </a:lnTo>
                    <a:cubicBezTo>
                      <a:pt x="21251" y="94929"/>
                      <a:pt x="0" y="73679"/>
                      <a:pt x="0" y="47465"/>
                    </a:cubicBezTo>
                    <a:lnTo>
                      <a:pt x="0" y="47465"/>
                    </a:lnTo>
                    <a:cubicBezTo>
                      <a:pt x="0" y="21251"/>
                      <a:pt x="21251" y="0"/>
                      <a:pt x="47465" y="0"/>
                    </a:cubicBezTo>
                    <a:close/>
                  </a:path>
                </a:pathLst>
              </a:custGeom>
              <a:solidFill>
                <a:srgbClr val="070241"/>
              </a:solidFill>
              <a:ln w="19050" cap="rnd">
                <a:solidFill>
                  <a:srgbClr val="04137A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28575"/>
                <a:ext cx="2194149" cy="123504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13245"/>
              <a:ext cx="6480825" cy="167146"/>
              <a:chOff x="0" y="0"/>
              <a:chExt cx="2194149" cy="56589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94149" cy="56589"/>
              </a:xfrm>
              <a:custGeom>
                <a:avLst/>
                <a:gdLst/>
                <a:ahLst/>
                <a:cxnLst/>
                <a:rect r="r" b="b" t="t" l="l"/>
                <a:pathLst>
                  <a:path h="56589" w="2194149">
                    <a:moveTo>
                      <a:pt x="0" y="0"/>
                    </a:moveTo>
                    <a:lnTo>
                      <a:pt x="2194149" y="0"/>
                    </a:lnTo>
                    <a:lnTo>
                      <a:pt x="2194149" y="56589"/>
                    </a:lnTo>
                    <a:lnTo>
                      <a:pt x="0" y="56589"/>
                    </a:lnTo>
                    <a:close/>
                  </a:path>
                </a:pathLst>
              </a:custGeom>
              <a:solidFill>
                <a:srgbClr val="070241"/>
              </a:solidFill>
              <a:ln w="19050" cap="sq">
                <a:solidFill>
                  <a:srgbClr val="04137A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2194149" cy="85164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2783208" y="7142874"/>
            <a:ext cx="4818282" cy="2478518"/>
            <a:chOff x="0" y="0"/>
            <a:chExt cx="6424376" cy="330469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6424376" cy="3304690"/>
              <a:chOff x="0" y="0"/>
              <a:chExt cx="2194149" cy="112866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94149" cy="1128667"/>
              </a:xfrm>
              <a:custGeom>
                <a:avLst/>
                <a:gdLst/>
                <a:ahLst/>
                <a:cxnLst/>
                <a:rect r="r" b="b" t="t" l="l"/>
                <a:pathLst>
                  <a:path h="1128667" w="2194149">
                    <a:moveTo>
                      <a:pt x="48668" y="0"/>
                    </a:moveTo>
                    <a:lnTo>
                      <a:pt x="2145480" y="0"/>
                    </a:lnTo>
                    <a:cubicBezTo>
                      <a:pt x="2158388" y="0"/>
                      <a:pt x="2170767" y="5128"/>
                      <a:pt x="2179894" y="14255"/>
                    </a:cubicBezTo>
                    <a:cubicBezTo>
                      <a:pt x="2189021" y="23382"/>
                      <a:pt x="2194149" y="35761"/>
                      <a:pt x="2194149" y="48668"/>
                    </a:cubicBezTo>
                    <a:lnTo>
                      <a:pt x="2194149" y="1079999"/>
                    </a:lnTo>
                    <a:cubicBezTo>
                      <a:pt x="2194149" y="1092907"/>
                      <a:pt x="2189021" y="1105286"/>
                      <a:pt x="2179894" y="1114413"/>
                    </a:cubicBezTo>
                    <a:cubicBezTo>
                      <a:pt x="2170767" y="1123540"/>
                      <a:pt x="2158388" y="1128667"/>
                      <a:pt x="2145480" y="1128667"/>
                    </a:cubicBezTo>
                    <a:lnTo>
                      <a:pt x="48668" y="1128667"/>
                    </a:lnTo>
                    <a:cubicBezTo>
                      <a:pt x="35761" y="1128667"/>
                      <a:pt x="23382" y="1123540"/>
                      <a:pt x="14255" y="1114413"/>
                    </a:cubicBezTo>
                    <a:cubicBezTo>
                      <a:pt x="5128" y="1105286"/>
                      <a:pt x="0" y="1092907"/>
                      <a:pt x="0" y="1079999"/>
                    </a:cubicBezTo>
                    <a:lnTo>
                      <a:pt x="0" y="48668"/>
                    </a:lnTo>
                    <a:cubicBezTo>
                      <a:pt x="0" y="35761"/>
                      <a:pt x="5128" y="23382"/>
                      <a:pt x="14255" y="14255"/>
                    </a:cubicBezTo>
                    <a:cubicBezTo>
                      <a:pt x="23382" y="5128"/>
                      <a:pt x="35761" y="0"/>
                      <a:pt x="48668" y="0"/>
                    </a:cubicBezTo>
                    <a:close/>
                  </a:path>
                </a:pathLst>
              </a:custGeom>
              <a:solidFill>
                <a:srgbClr val="96A1D9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2194149" cy="1157242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6424376" cy="277949"/>
              <a:chOff x="0" y="0"/>
              <a:chExt cx="2194149" cy="9492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194149" cy="94929"/>
              </a:xfrm>
              <a:custGeom>
                <a:avLst/>
                <a:gdLst/>
                <a:ahLst/>
                <a:cxnLst/>
                <a:rect r="r" b="b" t="t" l="l"/>
                <a:pathLst>
                  <a:path h="94929" w="2194149">
                    <a:moveTo>
                      <a:pt x="47465" y="0"/>
                    </a:moveTo>
                    <a:lnTo>
                      <a:pt x="2146684" y="0"/>
                    </a:lnTo>
                    <a:cubicBezTo>
                      <a:pt x="2172898" y="0"/>
                      <a:pt x="2194149" y="21251"/>
                      <a:pt x="2194149" y="47465"/>
                    </a:cubicBezTo>
                    <a:lnTo>
                      <a:pt x="2194149" y="47465"/>
                    </a:lnTo>
                    <a:cubicBezTo>
                      <a:pt x="2194149" y="60053"/>
                      <a:pt x="2189148" y="72126"/>
                      <a:pt x="2180247" y="81027"/>
                    </a:cubicBezTo>
                    <a:cubicBezTo>
                      <a:pt x="2171345" y="89929"/>
                      <a:pt x="2159273" y="94929"/>
                      <a:pt x="2146684" y="94929"/>
                    </a:cubicBezTo>
                    <a:lnTo>
                      <a:pt x="47465" y="94929"/>
                    </a:lnTo>
                    <a:cubicBezTo>
                      <a:pt x="21251" y="94929"/>
                      <a:pt x="0" y="73679"/>
                      <a:pt x="0" y="47465"/>
                    </a:cubicBezTo>
                    <a:lnTo>
                      <a:pt x="0" y="47465"/>
                    </a:lnTo>
                    <a:cubicBezTo>
                      <a:pt x="0" y="21251"/>
                      <a:pt x="21251" y="0"/>
                      <a:pt x="47465" y="0"/>
                    </a:cubicBez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28575"/>
                <a:ext cx="2194149" cy="123504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112259"/>
              <a:ext cx="6424376" cy="165691"/>
              <a:chOff x="0" y="0"/>
              <a:chExt cx="2194149" cy="5658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194149" cy="56589"/>
              </a:xfrm>
              <a:custGeom>
                <a:avLst/>
                <a:gdLst/>
                <a:ahLst/>
                <a:cxnLst/>
                <a:rect r="r" b="b" t="t" l="l"/>
                <a:pathLst>
                  <a:path h="56589" w="2194149">
                    <a:moveTo>
                      <a:pt x="0" y="0"/>
                    </a:moveTo>
                    <a:lnTo>
                      <a:pt x="2194149" y="0"/>
                    </a:lnTo>
                    <a:lnTo>
                      <a:pt x="2194149" y="56589"/>
                    </a:lnTo>
                    <a:lnTo>
                      <a:pt x="0" y="56589"/>
                    </a:lnTo>
                    <a:close/>
                  </a:path>
                </a:pathLst>
              </a:custGeom>
              <a:solidFill>
                <a:srgbClr val="07024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28575"/>
                <a:ext cx="2194149" cy="85164"/>
              </a:xfrm>
              <a:prstGeom prst="rect">
                <a:avLst/>
              </a:prstGeom>
            </p:spPr>
            <p:txBody>
              <a:bodyPr anchor="ctr" rtlCol="false" tIns="33950" lIns="33950" bIns="33950" rIns="33950"/>
              <a:lstStyle/>
              <a:p>
                <a:pPr algn="ctr">
                  <a:lnSpc>
                    <a:spcPts val="2231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9366500" y="2684469"/>
            <a:ext cx="1446819" cy="695985"/>
            <a:chOff x="0" y="0"/>
            <a:chExt cx="1929092" cy="9279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00556" y="0"/>
              <a:ext cx="927980" cy="927980"/>
            </a:xfrm>
            <a:custGeom>
              <a:avLst/>
              <a:gdLst/>
              <a:ahLst/>
              <a:cxnLst/>
              <a:rect r="r" b="b" t="t" l="l"/>
              <a:pathLst>
                <a:path h="927980" w="927980">
                  <a:moveTo>
                    <a:pt x="0" y="0"/>
                  </a:moveTo>
                  <a:lnTo>
                    <a:pt x="927980" y="0"/>
                  </a:lnTo>
                  <a:lnTo>
                    <a:pt x="927980" y="927980"/>
                  </a:lnTo>
                  <a:lnTo>
                    <a:pt x="0" y="92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0" y="61995"/>
              <a:ext cx="1929092" cy="74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5"/>
                </a:lnSpc>
                <a:spcBef>
                  <a:spcPct val="0"/>
                </a:spcBef>
              </a:pPr>
              <a:r>
                <a:rPr lang="en-US" b="true" sz="3496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66500" y="5822485"/>
            <a:ext cx="1446819" cy="695985"/>
            <a:chOff x="0" y="0"/>
            <a:chExt cx="1929092" cy="9279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00556" y="0"/>
              <a:ext cx="927980" cy="927980"/>
            </a:xfrm>
            <a:custGeom>
              <a:avLst/>
              <a:gdLst/>
              <a:ahLst/>
              <a:cxnLst/>
              <a:rect r="r" b="b" t="t" l="l"/>
              <a:pathLst>
                <a:path h="927980" w="927980">
                  <a:moveTo>
                    <a:pt x="0" y="0"/>
                  </a:moveTo>
                  <a:lnTo>
                    <a:pt x="927980" y="0"/>
                  </a:lnTo>
                  <a:lnTo>
                    <a:pt x="927980" y="927980"/>
                  </a:lnTo>
                  <a:lnTo>
                    <a:pt x="0" y="92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0" y="61995"/>
              <a:ext cx="1929092" cy="74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5"/>
                </a:lnSpc>
                <a:spcBef>
                  <a:spcPct val="0"/>
                </a:spcBef>
              </a:pPr>
              <a:r>
                <a:rPr lang="en-US" b="true" sz="3496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468940" y="3995955"/>
            <a:ext cx="1446819" cy="695985"/>
            <a:chOff x="0" y="0"/>
            <a:chExt cx="1929092" cy="9279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500556" y="0"/>
              <a:ext cx="927980" cy="927980"/>
            </a:xfrm>
            <a:custGeom>
              <a:avLst/>
              <a:gdLst/>
              <a:ahLst/>
              <a:cxnLst/>
              <a:rect r="r" b="b" t="t" l="l"/>
              <a:pathLst>
                <a:path h="927980" w="927980">
                  <a:moveTo>
                    <a:pt x="0" y="0"/>
                  </a:moveTo>
                  <a:lnTo>
                    <a:pt x="927980" y="0"/>
                  </a:lnTo>
                  <a:lnTo>
                    <a:pt x="927980" y="927980"/>
                  </a:lnTo>
                  <a:lnTo>
                    <a:pt x="0" y="92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 rot="0">
              <a:off x="0" y="61995"/>
              <a:ext cx="1929092" cy="74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5"/>
                </a:lnSpc>
                <a:spcBef>
                  <a:spcPct val="0"/>
                </a:spcBef>
              </a:pPr>
              <a:r>
                <a:rPr lang="en-US" b="true" sz="3496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468940" y="6976562"/>
            <a:ext cx="1446819" cy="695985"/>
            <a:chOff x="0" y="0"/>
            <a:chExt cx="1929092" cy="9279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0556" y="0"/>
              <a:ext cx="927980" cy="927980"/>
            </a:xfrm>
            <a:custGeom>
              <a:avLst/>
              <a:gdLst/>
              <a:ahLst/>
              <a:cxnLst/>
              <a:rect r="r" b="b" t="t" l="l"/>
              <a:pathLst>
                <a:path h="927980" w="927980">
                  <a:moveTo>
                    <a:pt x="0" y="0"/>
                  </a:moveTo>
                  <a:lnTo>
                    <a:pt x="927980" y="0"/>
                  </a:lnTo>
                  <a:lnTo>
                    <a:pt x="927980" y="927980"/>
                  </a:lnTo>
                  <a:lnTo>
                    <a:pt x="0" y="92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 rot="0">
              <a:off x="0" y="61995"/>
              <a:ext cx="1929092" cy="746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5"/>
                </a:lnSpc>
                <a:spcBef>
                  <a:spcPct val="0"/>
                </a:spcBef>
              </a:pPr>
              <a:r>
                <a:rPr lang="en-US" b="true" sz="3496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00020" y="3224789"/>
            <a:ext cx="4018727" cy="1066964"/>
            <a:chOff x="0" y="0"/>
            <a:chExt cx="1058430" cy="28101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58430" cy="281011"/>
            </a:xfrm>
            <a:custGeom>
              <a:avLst/>
              <a:gdLst/>
              <a:ahLst/>
              <a:cxnLst/>
              <a:rect r="r" b="b" t="t" l="l"/>
              <a:pathLst>
                <a:path h="281011" w="1058430">
                  <a:moveTo>
                    <a:pt x="855230" y="0"/>
                  </a:moveTo>
                  <a:lnTo>
                    <a:pt x="0" y="0"/>
                  </a:lnTo>
                  <a:lnTo>
                    <a:pt x="0" y="281011"/>
                  </a:lnTo>
                  <a:lnTo>
                    <a:pt x="855230" y="281011"/>
                  </a:lnTo>
                  <a:lnTo>
                    <a:pt x="1058430" y="140505"/>
                  </a:lnTo>
                  <a:lnTo>
                    <a:pt x="855230" y="0"/>
                  </a:lnTo>
                  <a:close/>
                </a:path>
              </a:pathLst>
            </a:custGeom>
            <a:solidFill>
              <a:srgbClr val="96A1D9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944130" cy="30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300020" y="1806860"/>
            <a:ext cx="17804424" cy="12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>
                <a:solidFill>
                  <a:srgbClr val="020A45"/>
                </a:solidFill>
                <a:latin typeface="Canva Sans 2"/>
                <a:ea typeface="Canva Sans 2"/>
                <a:cs typeface="Canva Sans 2"/>
                <a:sym typeface="Canva Sans 2"/>
              </a:rPr>
              <a:t>Our multi-agent system operates as an intelligent triage and drafting engine — combining intake intelligence, specialist routing, grounded generation, and artifact delivery into a seamless citizen-facing experience.</a:t>
            </a:r>
          </a:p>
          <a:p>
            <a:pPr algn="l">
              <a:lnSpc>
                <a:spcPts val="3320"/>
              </a:lnSpc>
              <a:spcBef>
                <a:spcPct val="0"/>
              </a:spcBef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300020" y="360002"/>
            <a:ext cx="16767136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How It</a:t>
            </a:r>
            <a:r>
              <a:rPr lang="en-US" b="true" sz="6999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Works: The Agent Ecosystem</a:t>
            </a:r>
          </a:p>
          <a:p>
            <a:pPr algn="l">
              <a:lnSpc>
                <a:spcPts val="9799"/>
              </a:lnSpc>
              <a:spcBef>
                <a:spcPct val="0"/>
              </a:spcBef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7832668" y="3362073"/>
            <a:ext cx="4514483" cy="18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b="true" sz="2111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Intake Agent</a:t>
            </a:r>
          </a:p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sz="1682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Listens to the citizen's plain-language complaint and extracts key structured facts: jurisdiction, relevant dates, parties involved, and grievance category. No legal knowledge required from the user.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783208" y="4653840"/>
            <a:ext cx="4818282" cy="18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b="true" sz="2111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Specialist Routing</a:t>
            </a:r>
          </a:p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sz="1682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Routes the structured complaint to the appropriate specialist sub-agent — Rights Navigator, RTI Drafter, Eligibility Matcher, or Form-Filler — based on grievance type and extracted context.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684767" y="6406168"/>
            <a:ext cx="4835452" cy="18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b="true" sz="2111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Grounded Generation</a:t>
            </a:r>
          </a:p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sz="1682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Each specialist agent retrieves verified procedures from indexed government sources and generates compliant, jurisdiction-specific outputs. No step is generated without a retrieved source passage.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928337" y="7634446"/>
            <a:ext cx="4528024" cy="18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b="true" sz="2111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Artifact Delivery</a:t>
            </a:r>
          </a:p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sz="1682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Returns downloadable, pre-filled documents — RTI applications, demand notices, complaint drafts, eligibility checklists — ready for immediate submission to the relevant authority.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300020" y="4881726"/>
            <a:ext cx="4976560" cy="1066964"/>
            <a:chOff x="0" y="0"/>
            <a:chExt cx="1310699" cy="2810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10699" cy="281011"/>
            </a:xfrm>
            <a:custGeom>
              <a:avLst/>
              <a:gdLst/>
              <a:ahLst/>
              <a:cxnLst/>
              <a:rect r="r" b="b" t="t" l="l"/>
              <a:pathLst>
                <a:path h="281011" w="1310699">
                  <a:moveTo>
                    <a:pt x="1107499" y="0"/>
                  </a:moveTo>
                  <a:lnTo>
                    <a:pt x="0" y="0"/>
                  </a:lnTo>
                  <a:lnTo>
                    <a:pt x="0" y="281011"/>
                  </a:lnTo>
                  <a:lnTo>
                    <a:pt x="1107499" y="281011"/>
                  </a:lnTo>
                  <a:lnTo>
                    <a:pt x="1310699" y="140505"/>
                  </a:lnTo>
                  <a:lnTo>
                    <a:pt x="1107499" y="0"/>
                  </a:lnTo>
                  <a:close/>
                </a:path>
              </a:pathLst>
            </a:custGeom>
            <a:solidFill>
              <a:srgbClr val="8591CE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1196399" cy="30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00020" y="6611328"/>
            <a:ext cx="6034496" cy="1066964"/>
            <a:chOff x="0" y="0"/>
            <a:chExt cx="1589332" cy="2810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89332" cy="281011"/>
            </a:xfrm>
            <a:custGeom>
              <a:avLst/>
              <a:gdLst/>
              <a:ahLst/>
              <a:cxnLst/>
              <a:rect r="r" b="b" t="t" l="l"/>
              <a:pathLst>
                <a:path h="281011" w="1589332">
                  <a:moveTo>
                    <a:pt x="1386132" y="0"/>
                  </a:moveTo>
                  <a:lnTo>
                    <a:pt x="0" y="0"/>
                  </a:lnTo>
                  <a:lnTo>
                    <a:pt x="0" y="281011"/>
                  </a:lnTo>
                  <a:lnTo>
                    <a:pt x="1386132" y="281011"/>
                  </a:lnTo>
                  <a:lnTo>
                    <a:pt x="1589332" y="140505"/>
                  </a:lnTo>
                  <a:lnTo>
                    <a:pt x="1386132" y="0"/>
                  </a:lnTo>
                  <a:close/>
                </a:path>
              </a:pathLst>
            </a:custGeom>
            <a:solidFill>
              <a:srgbClr val="6F7CBC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475032" cy="30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00020" y="8191336"/>
            <a:ext cx="7093154" cy="1066964"/>
            <a:chOff x="0" y="0"/>
            <a:chExt cx="1868156" cy="28101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68156" cy="281011"/>
            </a:xfrm>
            <a:custGeom>
              <a:avLst/>
              <a:gdLst/>
              <a:ahLst/>
              <a:cxnLst/>
              <a:rect r="r" b="b" t="t" l="l"/>
              <a:pathLst>
                <a:path h="281011" w="1868156">
                  <a:moveTo>
                    <a:pt x="1664956" y="0"/>
                  </a:moveTo>
                  <a:lnTo>
                    <a:pt x="0" y="0"/>
                  </a:lnTo>
                  <a:lnTo>
                    <a:pt x="0" y="281011"/>
                  </a:lnTo>
                  <a:lnTo>
                    <a:pt x="1664956" y="281011"/>
                  </a:lnTo>
                  <a:lnTo>
                    <a:pt x="1868156" y="140505"/>
                  </a:lnTo>
                  <a:lnTo>
                    <a:pt x="1664956" y="0"/>
                  </a:lnTo>
                  <a:close/>
                </a:path>
              </a:pathLst>
            </a:custGeom>
            <a:solidFill>
              <a:srgbClr val="5C67A0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1753856" cy="30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464599" y="3475981"/>
            <a:ext cx="2323702" cy="507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1"/>
              </a:lnSpc>
              <a:spcBef>
                <a:spcPct val="0"/>
              </a:spcBef>
            </a:pPr>
            <a:r>
              <a:rPr lang="en-US" sz="3044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Intake Agent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22567" y="5151792"/>
            <a:ext cx="3204151" cy="47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4"/>
              </a:lnSpc>
              <a:spcBef>
                <a:spcPct val="0"/>
              </a:spcBef>
            </a:pPr>
            <a:r>
              <a:rPr lang="en-US" sz="2917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Specialist Routing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00020" y="6863271"/>
            <a:ext cx="4202050" cy="51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7"/>
              </a:lnSpc>
              <a:spcBef>
                <a:spcPct val="0"/>
              </a:spcBef>
            </a:pPr>
            <a:r>
              <a:rPr lang="en-US" sz="3033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Grounded Generation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69752" y="8380621"/>
            <a:ext cx="3509782" cy="55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8"/>
              </a:lnSpc>
              <a:spcBef>
                <a:spcPct val="0"/>
              </a:spcBef>
            </a:pPr>
            <a:r>
              <a:rPr lang="en-US" sz="3255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Artifact Delivery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965" y="-359486"/>
            <a:ext cx="19188245" cy="596040"/>
            <a:chOff x="0" y="0"/>
            <a:chExt cx="5053694" cy="156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694" cy="156982"/>
            </a:xfrm>
            <a:custGeom>
              <a:avLst/>
              <a:gdLst/>
              <a:ahLst/>
              <a:cxnLst/>
              <a:rect r="r" b="b" t="t" l="l"/>
              <a:pathLst>
                <a:path h="156982" w="5053694">
                  <a:moveTo>
                    <a:pt x="0" y="0"/>
                  </a:moveTo>
                  <a:lnTo>
                    <a:pt x="5053694" y="0"/>
                  </a:lnTo>
                  <a:lnTo>
                    <a:pt x="5053694" y="156982"/>
                  </a:lnTo>
                  <a:lnTo>
                    <a:pt x="0" y="1569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3694" cy="195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4816" y="383890"/>
            <a:ext cx="10490189" cy="298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  <a:spcBef>
                <a:spcPct val="0"/>
              </a:spcBef>
            </a:pPr>
            <a:r>
              <a:rPr lang="en-US" b="true" sz="5683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Grounding</a:t>
            </a:r>
            <a:r>
              <a:rPr lang="en-US" b="true" sz="5683" u="sng">
                <a:solidFill>
                  <a:srgbClr val="07024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Strategy: Eliminating Hallucinations</a:t>
            </a:r>
          </a:p>
          <a:p>
            <a:pPr algn="l">
              <a:lnSpc>
                <a:spcPts val="7956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877877" y="236554"/>
            <a:ext cx="8410123" cy="9742230"/>
            <a:chOff x="0" y="0"/>
            <a:chExt cx="1752953" cy="2030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2953" cy="2030609"/>
            </a:xfrm>
            <a:custGeom>
              <a:avLst/>
              <a:gdLst/>
              <a:ahLst/>
              <a:cxnLst/>
              <a:rect r="r" b="b" t="t" l="l"/>
              <a:pathLst>
                <a:path h="2030609" w="1752953">
                  <a:moveTo>
                    <a:pt x="68121" y="0"/>
                  </a:moveTo>
                  <a:lnTo>
                    <a:pt x="1684832" y="0"/>
                  </a:lnTo>
                  <a:cubicBezTo>
                    <a:pt x="1702899" y="0"/>
                    <a:pt x="1720226" y="7177"/>
                    <a:pt x="1733001" y="19952"/>
                  </a:cubicBezTo>
                  <a:cubicBezTo>
                    <a:pt x="1745776" y="32727"/>
                    <a:pt x="1752953" y="50054"/>
                    <a:pt x="1752953" y="68121"/>
                  </a:cubicBezTo>
                  <a:lnTo>
                    <a:pt x="1752953" y="1962488"/>
                  </a:lnTo>
                  <a:cubicBezTo>
                    <a:pt x="1752953" y="2000110"/>
                    <a:pt x="1722454" y="2030609"/>
                    <a:pt x="1684832" y="2030609"/>
                  </a:cubicBezTo>
                  <a:lnTo>
                    <a:pt x="68121" y="2030609"/>
                  </a:lnTo>
                  <a:cubicBezTo>
                    <a:pt x="30499" y="2030609"/>
                    <a:pt x="0" y="2000110"/>
                    <a:pt x="0" y="1962488"/>
                  </a:cubicBezTo>
                  <a:lnTo>
                    <a:pt x="0" y="68121"/>
                  </a:lnTo>
                  <a:cubicBezTo>
                    <a:pt x="0" y="30499"/>
                    <a:pt x="30499" y="0"/>
                    <a:pt x="68121" y="0"/>
                  </a:cubicBezTo>
                  <a:close/>
                </a:path>
              </a:pathLst>
            </a:custGeom>
            <a:solidFill>
              <a:srgbClr val="DEEBF2"/>
            </a:solidFill>
            <a:ln w="66675" cap="rnd">
              <a:solidFill>
                <a:srgbClr val="04137A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752953" cy="2059184"/>
            </a:xfrm>
            <a:prstGeom prst="rect">
              <a:avLst/>
            </a:prstGeom>
          </p:spPr>
          <p:txBody>
            <a:bodyPr anchor="ctr" rtlCol="false" tIns="64190" lIns="64190" bIns="64190" rIns="64190"/>
            <a:lstStyle/>
            <a:p>
              <a:pPr algn="ctr">
                <a:lnSpc>
                  <a:spcPts val="224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61387" y="1121861"/>
            <a:ext cx="7748320" cy="2121787"/>
            <a:chOff x="0" y="0"/>
            <a:chExt cx="10331093" cy="282904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331093" cy="2829049"/>
              <a:chOff x="0" y="0"/>
              <a:chExt cx="1907459" cy="52233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07459" cy="522335"/>
              </a:xfrm>
              <a:custGeom>
                <a:avLst/>
                <a:gdLst/>
                <a:ahLst/>
                <a:cxnLst/>
                <a:rect r="r" b="b" t="t" l="l"/>
                <a:pathLst>
                  <a:path h="522335" w="1907459">
                    <a:moveTo>
                      <a:pt x="49067" y="0"/>
                    </a:moveTo>
                    <a:lnTo>
                      <a:pt x="1858392" y="0"/>
                    </a:lnTo>
                    <a:cubicBezTo>
                      <a:pt x="1871405" y="0"/>
                      <a:pt x="1883886" y="5170"/>
                      <a:pt x="1893087" y="14371"/>
                    </a:cubicBezTo>
                    <a:cubicBezTo>
                      <a:pt x="1902289" y="23573"/>
                      <a:pt x="1907459" y="36054"/>
                      <a:pt x="1907459" y="49067"/>
                    </a:cubicBezTo>
                    <a:lnTo>
                      <a:pt x="1907459" y="473268"/>
                    </a:lnTo>
                    <a:cubicBezTo>
                      <a:pt x="1907459" y="500367"/>
                      <a:pt x="1885491" y="522335"/>
                      <a:pt x="1858392" y="522335"/>
                    </a:cubicBezTo>
                    <a:lnTo>
                      <a:pt x="49067" y="522335"/>
                    </a:lnTo>
                    <a:cubicBezTo>
                      <a:pt x="21968" y="522335"/>
                      <a:pt x="0" y="500367"/>
                      <a:pt x="0" y="473268"/>
                    </a:cubicBezTo>
                    <a:lnTo>
                      <a:pt x="0" y="49067"/>
                    </a:lnTo>
                    <a:cubicBezTo>
                      <a:pt x="0" y="21968"/>
                      <a:pt x="21968" y="0"/>
                      <a:pt x="490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907459" cy="550910"/>
              </a:xfrm>
              <a:prstGeom prst="rect">
                <a:avLst/>
              </a:prstGeom>
            </p:spPr>
            <p:txBody>
              <a:bodyPr anchor="ctr" rtlCol="false" tIns="64190" lIns="64190" bIns="64190" rIns="6419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65954" y="362778"/>
              <a:ext cx="10165139" cy="233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VE</a:t>
              </a:r>
              <a:r>
                <a:rPr lang="en-US" b="true" sz="2199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RIFIED SOURCE INDEXING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Vector embeddings of official RTI manuals, the Consumer Protection Act 2019, state-specific Rent Control Acts, tenant laws, and welfare scheme guidelines form the exclusive retrieval corpus. No external or unverified sources are indexed.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34282" y="3491298"/>
            <a:ext cx="7731428" cy="1873587"/>
            <a:chOff x="0" y="0"/>
            <a:chExt cx="10308571" cy="249811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308571" cy="2498115"/>
              <a:chOff x="0" y="0"/>
              <a:chExt cx="1678206" cy="40668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78206" cy="406686"/>
              </a:xfrm>
              <a:custGeom>
                <a:avLst/>
                <a:gdLst/>
                <a:ahLst/>
                <a:cxnLst/>
                <a:rect r="r" b="b" t="t" l="l"/>
                <a:pathLst>
                  <a:path h="406686" w="1678206">
                    <a:moveTo>
                      <a:pt x="55770" y="0"/>
                    </a:moveTo>
                    <a:lnTo>
                      <a:pt x="1622436" y="0"/>
                    </a:lnTo>
                    <a:cubicBezTo>
                      <a:pt x="1637228" y="0"/>
                      <a:pt x="1651413" y="5876"/>
                      <a:pt x="1661872" y="16335"/>
                    </a:cubicBezTo>
                    <a:cubicBezTo>
                      <a:pt x="1672330" y="26793"/>
                      <a:pt x="1678206" y="40979"/>
                      <a:pt x="1678206" y="55770"/>
                    </a:cubicBezTo>
                    <a:lnTo>
                      <a:pt x="1678206" y="350916"/>
                    </a:lnTo>
                    <a:cubicBezTo>
                      <a:pt x="1678206" y="365707"/>
                      <a:pt x="1672330" y="379893"/>
                      <a:pt x="1661872" y="390352"/>
                    </a:cubicBezTo>
                    <a:cubicBezTo>
                      <a:pt x="1651413" y="400810"/>
                      <a:pt x="1637228" y="406686"/>
                      <a:pt x="1622436" y="406686"/>
                    </a:cubicBezTo>
                    <a:lnTo>
                      <a:pt x="55770" y="406686"/>
                    </a:lnTo>
                    <a:cubicBezTo>
                      <a:pt x="40979" y="406686"/>
                      <a:pt x="26793" y="400810"/>
                      <a:pt x="16335" y="390352"/>
                    </a:cubicBezTo>
                    <a:cubicBezTo>
                      <a:pt x="5876" y="379893"/>
                      <a:pt x="0" y="365707"/>
                      <a:pt x="0" y="350916"/>
                    </a:cubicBezTo>
                    <a:lnTo>
                      <a:pt x="0" y="55770"/>
                    </a:lnTo>
                    <a:cubicBezTo>
                      <a:pt x="0" y="40979"/>
                      <a:pt x="5876" y="26793"/>
                      <a:pt x="16335" y="16335"/>
                    </a:cubicBezTo>
                    <a:cubicBezTo>
                      <a:pt x="26793" y="5876"/>
                      <a:pt x="40979" y="0"/>
                      <a:pt x="557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1678206" cy="435261"/>
              </a:xfrm>
              <a:prstGeom prst="rect">
                <a:avLst/>
              </a:prstGeom>
            </p:spPr>
            <p:txBody>
              <a:bodyPr anchor="ctr" rtlCol="false" tIns="64190" lIns="64190" bIns="64190" rIns="64190"/>
              <a:lstStyle/>
              <a:p>
                <a:pPr algn="ctr">
                  <a:lnSpc>
                    <a:spcPts val="2244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906263" y="198830"/>
              <a:ext cx="8600559" cy="2062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57"/>
                </a:lnSpc>
                <a:spcBef>
                  <a:spcPct val="0"/>
                </a:spcBef>
              </a:pPr>
              <a:r>
                <a:rPr lang="en-US" b="true" sz="2112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JURISDI</a:t>
              </a:r>
              <a:r>
                <a:rPr lang="en-US" b="true" sz="2112">
                  <a:solidFill>
                    <a:srgbClr val="020A45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CTION-AWARE RETRIEVAL</a:t>
              </a:r>
            </a:p>
            <a:p>
              <a:pPr algn="ctr">
                <a:lnSpc>
                  <a:spcPts val="2150"/>
                </a:lnSpc>
                <a:spcBef>
                  <a:spcPct val="0"/>
                </a:spcBef>
              </a:pPr>
              <a:r>
                <a:rPr lang="en-US" sz="1536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All retrieval is automatically filtered by state. A query about tenant rights returns Maharashtra Rent Control Act procedures for a Mumbai user — not generic or Delhi-specific guidance. Jurisdiction is extracted at intake and propagated through every agent call.</a:t>
              </a:r>
            </a:p>
            <a:p>
              <a:pPr algn="ctr">
                <a:lnSpc>
                  <a:spcPts val="90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00167" y="5612534"/>
            <a:ext cx="7765543" cy="1754716"/>
            <a:chOff x="0" y="0"/>
            <a:chExt cx="1618600" cy="3657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8600" cy="365742"/>
            </a:xfrm>
            <a:custGeom>
              <a:avLst/>
              <a:gdLst/>
              <a:ahLst/>
              <a:cxnLst/>
              <a:rect r="r" b="b" t="t" l="l"/>
              <a:pathLst>
                <a:path h="365742" w="1618600">
                  <a:moveTo>
                    <a:pt x="57824" y="0"/>
                  </a:moveTo>
                  <a:lnTo>
                    <a:pt x="1560777" y="0"/>
                  </a:lnTo>
                  <a:cubicBezTo>
                    <a:pt x="1576113" y="0"/>
                    <a:pt x="1590820" y="6092"/>
                    <a:pt x="1601664" y="16936"/>
                  </a:cubicBezTo>
                  <a:cubicBezTo>
                    <a:pt x="1612508" y="27780"/>
                    <a:pt x="1618600" y="42488"/>
                    <a:pt x="1618600" y="57824"/>
                  </a:cubicBezTo>
                  <a:lnTo>
                    <a:pt x="1618600" y="307918"/>
                  </a:lnTo>
                  <a:cubicBezTo>
                    <a:pt x="1618600" y="339853"/>
                    <a:pt x="1592712" y="365742"/>
                    <a:pt x="1560777" y="365742"/>
                  </a:cubicBezTo>
                  <a:lnTo>
                    <a:pt x="57824" y="365742"/>
                  </a:lnTo>
                  <a:cubicBezTo>
                    <a:pt x="42488" y="365742"/>
                    <a:pt x="27780" y="359650"/>
                    <a:pt x="16936" y="348806"/>
                  </a:cubicBezTo>
                  <a:cubicBezTo>
                    <a:pt x="6092" y="337962"/>
                    <a:pt x="0" y="323254"/>
                    <a:pt x="0" y="307918"/>
                  </a:cubicBezTo>
                  <a:lnTo>
                    <a:pt x="0" y="57824"/>
                  </a:lnTo>
                  <a:cubicBezTo>
                    <a:pt x="0" y="42488"/>
                    <a:pt x="6092" y="27780"/>
                    <a:pt x="16936" y="16936"/>
                  </a:cubicBezTo>
                  <a:cubicBezTo>
                    <a:pt x="27780" y="6092"/>
                    <a:pt x="42488" y="0"/>
                    <a:pt x="578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618600" cy="394317"/>
            </a:xfrm>
            <a:prstGeom prst="rect">
              <a:avLst/>
            </a:prstGeom>
          </p:spPr>
          <p:txBody>
            <a:bodyPr anchor="ctr" rtlCol="false" tIns="64190" lIns="64190" bIns="64190" rIns="64190"/>
            <a:lstStyle/>
            <a:p>
              <a:pPr algn="ctr">
                <a:lnSpc>
                  <a:spcPts val="224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34282" y="7627712"/>
            <a:ext cx="7765543" cy="1754716"/>
            <a:chOff x="0" y="0"/>
            <a:chExt cx="1618600" cy="3657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18600" cy="365742"/>
            </a:xfrm>
            <a:custGeom>
              <a:avLst/>
              <a:gdLst/>
              <a:ahLst/>
              <a:cxnLst/>
              <a:rect r="r" b="b" t="t" l="l"/>
              <a:pathLst>
                <a:path h="365742" w="1618600">
                  <a:moveTo>
                    <a:pt x="57824" y="0"/>
                  </a:moveTo>
                  <a:lnTo>
                    <a:pt x="1560777" y="0"/>
                  </a:lnTo>
                  <a:cubicBezTo>
                    <a:pt x="1576113" y="0"/>
                    <a:pt x="1590820" y="6092"/>
                    <a:pt x="1601664" y="16936"/>
                  </a:cubicBezTo>
                  <a:cubicBezTo>
                    <a:pt x="1612508" y="27780"/>
                    <a:pt x="1618600" y="42488"/>
                    <a:pt x="1618600" y="57824"/>
                  </a:cubicBezTo>
                  <a:lnTo>
                    <a:pt x="1618600" y="307918"/>
                  </a:lnTo>
                  <a:cubicBezTo>
                    <a:pt x="1618600" y="339853"/>
                    <a:pt x="1592712" y="365742"/>
                    <a:pt x="1560777" y="365742"/>
                  </a:cubicBezTo>
                  <a:lnTo>
                    <a:pt x="57824" y="365742"/>
                  </a:lnTo>
                  <a:cubicBezTo>
                    <a:pt x="42488" y="365742"/>
                    <a:pt x="27780" y="359650"/>
                    <a:pt x="16936" y="348806"/>
                  </a:cubicBezTo>
                  <a:cubicBezTo>
                    <a:pt x="6092" y="337962"/>
                    <a:pt x="0" y="323254"/>
                    <a:pt x="0" y="307918"/>
                  </a:cubicBezTo>
                  <a:lnTo>
                    <a:pt x="0" y="57824"/>
                  </a:lnTo>
                  <a:cubicBezTo>
                    <a:pt x="0" y="42488"/>
                    <a:pt x="6092" y="27780"/>
                    <a:pt x="16936" y="16936"/>
                  </a:cubicBezTo>
                  <a:cubicBezTo>
                    <a:pt x="27780" y="6092"/>
                    <a:pt x="42488" y="0"/>
                    <a:pt x="578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618600" cy="394317"/>
            </a:xfrm>
            <a:prstGeom prst="rect">
              <a:avLst/>
            </a:prstGeom>
          </p:spPr>
          <p:txBody>
            <a:bodyPr anchor="ctr" rtlCol="false" tIns="64190" lIns="64190" bIns="64190" rIns="64190"/>
            <a:lstStyle/>
            <a:p>
              <a:pPr algn="ctr">
                <a:lnSpc>
                  <a:spcPts val="224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3709199"/>
            <a:ext cx="7376425" cy="6269586"/>
            <a:chOff x="0" y="0"/>
            <a:chExt cx="2254748" cy="19164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54748" cy="1916421"/>
            </a:xfrm>
            <a:custGeom>
              <a:avLst/>
              <a:gdLst/>
              <a:ahLst/>
              <a:cxnLst/>
              <a:rect r="r" b="b" t="t" l="l"/>
              <a:pathLst>
                <a:path h="1916421" w="2254748">
                  <a:moveTo>
                    <a:pt x="36734" y="0"/>
                  </a:moveTo>
                  <a:lnTo>
                    <a:pt x="2218014" y="0"/>
                  </a:lnTo>
                  <a:cubicBezTo>
                    <a:pt x="2238302" y="0"/>
                    <a:pt x="2254748" y="16446"/>
                    <a:pt x="2254748" y="36734"/>
                  </a:cubicBezTo>
                  <a:lnTo>
                    <a:pt x="2254748" y="1879687"/>
                  </a:lnTo>
                  <a:cubicBezTo>
                    <a:pt x="2254748" y="1899975"/>
                    <a:pt x="2238302" y="1916421"/>
                    <a:pt x="2218014" y="1916421"/>
                  </a:cubicBezTo>
                  <a:lnTo>
                    <a:pt x="36734" y="1916421"/>
                  </a:lnTo>
                  <a:cubicBezTo>
                    <a:pt x="16446" y="1916421"/>
                    <a:pt x="0" y="1899975"/>
                    <a:pt x="0" y="1879687"/>
                  </a:cubicBezTo>
                  <a:lnTo>
                    <a:pt x="0" y="36734"/>
                  </a:lnTo>
                  <a:cubicBezTo>
                    <a:pt x="0" y="16446"/>
                    <a:pt x="16446" y="0"/>
                    <a:pt x="36734" y="0"/>
                  </a:cubicBezTo>
                  <a:close/>
                </a:path>
              </a:pathLst>
            </a:custGeom>
            <a:solidFill>
              <a:srgbClr val="96A1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254748" cy="194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4266" y="7480119"/>
            <a:ext cx="6971800" cy="41162"/>
            <a:chOff x="0" y="0"/>
            <a:chExt cx="2131067" cy="125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1067" cy="12582"/>
            </a:xfrm>
            <a:custGeom>
              <a:avLst/>
              <a:gdLst/>
              <a:ahLst/>
              <a:cxnLst/>
              <a:rect r="r" b="b" t="t" l="l"/>
              <a:pathLst>
                <a:path h="12582" w="2131067">
                  <a:moveTo>
                    <a:pt x="0" y="0"/>
                  </a:moveTo>
                  <a:lnTo>
                    <a:pt x="2131067" y="0"/>
                  </a:lnTo>
                  <a:lnTo>
                    <a:pt x="2131067" y="12582"/>
                  </a:lnTo>
                  <a:lnTo>
                    <a:pt x="0" y="12582"/>
                  </a:lnTo>
                  <a:close/>
                </a:path>
              </a:pathLst>
            </a:custGeom>
            <a:solidFill>
              <a:srgbClr val="07024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31067" cy="50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3287413" y="4137966"/>
            <a:ext cx="4878653" cy="3229283"/>
          </a:xfrm>
          <a:custGeom>
            <a:avLst/>
            <a:gdLst/>
            <a:ahLst/>
            <a:cxnLst/>
            <a:rect r="r" b="b" t="t" l="l"/>
            <a:pathLst>
              <a:path h="3229283" w="4878653">
                <a:moveTo>
                  <a:pt x="0" y="0"/>
                </a:moveTo>
                <a:lnTo>
                  <a:pt x="4878653" y="0"/>
                </a:lnTo>
                <a:lnTo>
                  <a:pt x="4878653" y="3229284"/>
                </a:lnTo>
                <a:lnTo>
                  <a:pt x="0" y="322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34" r="0" b="-4234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825203" y="341463"/>
            <a:ext cx="4420687" cy="76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6"/>
              </a:lnSpc>
              <a:spcBef>
                <a:spcPct val="0"/>
              </a:spcBef>
            </a:pPr>
            <a:r>
              <a:rPr lang="en-US" b="true" sz="4476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Impact Metrics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81950" y="5742364"/>
            <a:ext cx="6353020" cy="176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CITATION &amp; TRACEABILITY</a:t>
            </a:r>
          </a:p>
          <a:p>
            <a:pPr algn="ctr">
              <a:lnSpc>
                <a:spcPts val="2236"/>
              </a:lnSpc>
              <a:spcBef>
                <a:spcPct val="0"/>
              </a:spcBef>
            </a:pPr>
            <a:r>
              <a:rPr lang="en-US" sz="1597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Every generated step includes a statutory reference — e.g., "Section 12, Consumer Protection Act, 2019" — so users can independently verify the guidance. Traceability is a core output requirement, not an optional feature.</a:t>
            </a:r>
          </a:p>
          <a:p>
            <a:pPr algn="ctr">
              <a:lnSpc>
                <a:spcPts val="2236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261548" y="2508342"/>
            <a:ext cx="8882452" cy="109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1"/>
              </a:lnSpc>
              <a:spcBef>
                <a:spcPct val="0"/>
              </a:spcBef>
            </a:pPr>
            <a:r>
              <a:rPr lang="en-US" sz="1593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In civic and legal contexts, a hallucinated procedure is not merely unhelpful — it can cause direct harm: missed deadlines, wrong jurisdictions, invalid filings. Our grounding architecture makes hallucination structurally difficult.</a:t>
            </a:r>
          </a:p>
          <a:p>
            <a:pPr algn="just">
              <a:lnSpc>
                <a:spcPts val="2231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0708145" y="7713437"/>
            <a:ext cx="6654805" cy="176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Fallb</a:t>
            </a:r>
            <a:r>
              <a:rPr lang="en-US" b="true" sz="2199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ack to Human Escalation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10115"/>
                </a:solidFill>
                <a:latin typeface="Canva Sans 1"/>
                <a:ea typeface="Canva Sans 1"/>
                <a:cs typeface="Canva Sans 1"/>
                <a:sym typeface="Canva Sans 1"/>
              </a:rPr>
              <a:t>If</a:t>
            </a:r>
            <a:r>
              <a:rPr lang="en-US" sz="1599">
                <a:solidFill>
                  <a:srgbClr val="010115"/>
                </a:solidFill>
                <a:latin typeface="Canva Sans 1"/>
                <a:ea typeface="Canva Sans 1"/>
                <a:cs typeface="Canva Sans 1"/>
                <a:sym typeface="Canva Sans 1"/>
              </a:rPr>
              <a:t> the system's confidence score drops below a defined threshold — due to ambiguous jurisdiction, novel fact patterns, or low retrieval relevance — the system escalates to legal aid networks (NALSA, partner NGOs) rather than generating a low-confidence response.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397360" y="7464131"/>
            <a:ext cx="6565612" cy="2747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3"/>
              </a:lnSpc>
            </a:pPr>
            <a:r>
              <a:rPr lang="en-US" sz="2688" b="true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Design Principle</a:t>
            </a:r>
          </a:p>
          <a:p>
            <a:pPr algn="ctr">
              <a:lnSpc>
                <a:spcPts val="3763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Th</a:t>
            </a:r>
            <a:r>
              <a:rPr lang="en-US" sz="20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e system is designed to know what it doesn't know — and to route accordingly. Confident silence is always preferable to confident error in a legal context.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16143" y="4563051"/>
            <a:ext cx="2171269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b="true" sz="2700" u="sng">
                <a:solidFill>
                  <a:srgbClr val="020A45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Grounding Architecture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DAHTFPAmmsU</dc:identifier>
  <dcterms:modified xsi:type="dcterms:W3CDTF">2011-08-01T06:04:30Z</dcterms:modified>
  <cp:revision>1</cp:revision>
  <dc:title>AI for Civic &amp; Legal Empowerment</dc:title>
</cp:coreProperties>
</file>